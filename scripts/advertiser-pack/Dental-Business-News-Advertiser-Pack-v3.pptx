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Masthead is the brand kit's reversed wordmark, not retyped.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figures pulled from the database on 19 Oct 2026. Update before reissuing.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Mock-ups are drawn shapes, so they recolour with the brand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JB's rate card of 20 Oct 2026. Three tiers: one, three and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only. The title has run no paid campaign, and nothing in the database stores opens or clicks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mailto:jb@dentalbusinessnew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E63"/>
        </a:solidFill>
      </p:bgPr>
    </p:bg>
    <p:spTree>
      <p:nvGrpSpPr>
        <p:cNvPr id="1" name=""/>
        <p:cNvGrpSpPr/>
        <p:nvPr/>
      </p:nvGrpSpPr>
      <p:grpSpPr>
        <a:xfrm>
          <a:off x="0" y="0"/>
          <a:ext cx="0" cy="0"/>
          <a:chOff x="0" y="0"/>
          <a:chExt cx="0" cy="0"/>
        </a:xfrm>
      </p:grpSpPr>
      <p:pic>
        <p:nvPicPr>
          <p:cNvPr id="2" name="Image 0" descr="C:/Users/CIMLTD~1/AppData/Local/Temp/claude/C--Users-CIM-Ltd--claude/ab747c79-736f-42fc-8062-1a21d89ca420/scratchpad/pack-assets/cover-photo.jpg">    </p:cNvPr>
          <p:cNvPicPr>
            <a:picLocks noChangeAspect="1"/>
          </p:cNvPicPr>
          <p:nvPr/>
        </p:nvPicPr>
        <p:blipFill>
          <a:blip r:embed="rId1"/>
          <a:srcRect l="0" r="0" t="0" b="0"/>
          <a:stretch/>
        </p:blipFill>
        <p:spPr>
          <a:xfrm>
            <a:off x="6400800" y="0"/>
            <a:ext cx="4288536" cy="7562088"/>
          </a:xfrm>
          <a:prstGeom prst="rect">
            <a:avLst/>
          </a:prstGeom>
        </p:spPr>
      </p:pic>
      <p:pic>
        <p:nvPicPr>
          <p:cNvPr id="3" name="Image 1" descr="C:/Users/CIMLTD~1/AppData/Local/Temp/claude/C--Users-CIM-Ltd--claude/ab747c79-736f-42fc-8062-1a21d89ca420/scratchpad/pack-assets/wordmark-reversed@4x.png">    </p:cNvPr>
          <p:cNvPicPr>
            <a:picLocks noChangeAspect="1"/>
          </p:cNvPicPr>
          <p:nvPr/>
        </p:nvPicPr>
        <p:blipFill>
          <a:blip r:embed="rId2"/>
          <a:stretch>
            <a:fillRect/>
          </a:stretch>
        </p:blipFill>
        <p:spPr>
          <a:xfrm>
            <a:off x="566928" y="530352"/>
            <a:ext cx="2148840" cy="882396"/>
          </a:xfrm>
          <a:prstGeom prst="rect">
            <a:avLst/>
          </a:prstGeom>
        </p:spPr>
      </p:pic>
      <p:sp>
        <p:nvSpPr>
          <p:cNvPr id="4" name="Text 0"/>
          <p:cNvSpPr txBox="1"/>
          <p:nvPr/>
        </p:nvSpPr>
        <p:spPr>
          <a:xfrm>
            <a:off x="2926080" y="566928"/>
            <a:ext cx="3200400" cy="219456"/>
          </a:xfrm>
          <a:prstGeom prst="rect">
            <a:avLst/>
          </a:prstGeom>
          <a:noFill/>
          <a:ln/>
        </p:spPr>
        <p:txBody>
          <a:bodyPr wrap="square" lIns="0" tIns="0" rIns="0" bIns="0" rtlCol="0" anchor="ctr"/>
          <a:lstStyle/>
          <a:p>
            <a:pPr algn="r" indent="0" marL="0">
              <a:buNone/>
            </a:pPr>
            <a:r>
              <a:rPr lang="en-US" sz="950" b="1" spc="240" kern="0" dirty="0">
                <a:solidFill>
                  <a:srgbClr val="9FE3DD"/>
                </a:solidFill>
                <a:latin typeface="Consolas" pitchFamily="34" charset="0"/>
                <a:ea typeface="Consolas" pitchFamily="34" charset="-122"/>
                <a:cs typeface="Consolas" pitchFamily="34" charset="-120"/>
              </a:rPr>
              <a:t>ADVERTISER PACK</a:t>
            </a:r>
            <a:endParaRPr lang="en-US" sz="950" dirty="0"/>
          </a:p>
        </p:txBody>
      </p:sp>
      <p:sp>
        <p:nvSpPr>
          <p:cNvPr id="5" name="Text 1"/>
          <p:cNvSpPr txBox="1"/>
          <p:nvPr/>
        </p:nvSpPr>
        <p:spPr>
          <a:xfrm>
            <a:off x="2926080" y="804672"/>
            <a:ext cx="3200400" cy="219456"/>
          </a:xfrm>
          <a:prstGeom prst="rect">
            <a:avLst/>
          </a:prstGeom>
          <a:noFill/>
          <a:ln/>
        </p:spPr>
        <p:txBody>
          <a:bodyPr wrap="square" lIns="0" tIns="0" rIns="0" bIns="0" rtlCol="0" anchor="ctr"/>
          <a:lstStyle/>
          <a:p>
            <a:pPr algn="r" indent="0" marL="0">
              <a:buNone/>
            </a:pPr>
            <a:r>
              <a:rPr lang="en-US" sz="950" b="1" spc="240" kern="0" dirty="0">
                <a:solidFill>
                  <a:srgbClr val="7FB8B8"/>
                </a:solidFill>
                <a:latin typeface="Consolas" pitchFamily="34" charset="0"/>
                <a:ea typeface="Consolas" pitchFamily="34" charset="-122"/>
                <a:cs typeface="Consolas" pitchFamily="34" charset="-120"/>
              </a:rPr>
              <a:t>2026 / 27</a:t>
            </a:r>
            <a:endParaRPr lang="en-US" sz="950" dirty="0"/>
          </a:p>
        </p:txBody>
      </p:sp>
      <p:sp>
        <p:nvSpPr>
          <p:cNvPr id="6" name="Text 2"/>
          <p:cNvSpPr txBox="1"/>
          <p:nvPr/>
        </p:nvSpPr>
        <p:spPr>
          <a:xfrm>
            <a:off x="566928" y="3886200"/>
            <a:ext cx="5486400" cy="1737360"/>
          </a:xfrm>
          <a:prstGeom prst="rect">
            <a:avLst/>
          </a:prstGeom>
          <a:noFill/>
          <a:ln/>
        </p:spPr>
        <p:txBody>
          <a:bodyPr wrap="square" lIns="0" tIns="0" rIns="0" bIns="0" rtlCol="0" anchor="t"/>
          <a:lstStyle/>
          <a:p>
            <a:pPr indent="0" marL="0">
              <a:lnSpc>
                <a:spcPct val="100000"/>
              </a:lnSpc>
              <a:buNone/>
            </a:pPr>
            <a:r>
              <a:rPr lang="en-US" sz="4600" b="1" dirty="0">
                <a:solidFill>
                  <a:srgbClr val="FFFFFF"/>
                </a:solidFill>
                <a:latin typeface="Arial" pitchFamily="34" charset="0"/>
                <a:ea typeface="Arial" pitchFamily="34" charset="-122"/>
                <a:cs typeface="Arial" pitchFamily="34" charset="-120"/>
              </a:rPr>
              <a:t>Reach the people
</a:t>
            </a:r>
            <a:pPr indent="0" marL="0">
              <a:lnSpc>
                <a:spcPct val="100000"/>
              </a:lnSpc>
              <a:buNone/>
            </a:pPr>
            <a:r>
              <a:rPr lang="en-US" sz="4600" b="1" dirty="0">
                <a:solidFill>
                  <a:srgbClr val="9FE3DD"/>
                </a:solidFill>
                <a:latin typeface="Arial" pitchFamily="34" charset="0"/>
                <a:ea typeface="Arial" pitchFamily="34" charset="-122"/>
                <a:cs typeface="Arial" pitchFamily="34" charset="-120"/>
              </a:rPr>
              <a:t>who buy.</a:t>
            </a:r>
            <a:endParaRPr lang="en-US" sz="4600" dirty="0"/>
          </a:p>
        </p:txBody>
      </p:sp>
      <p:sp>
        <p:nvSpPr>
          <p:cNvPr id="7" name="Shape 3"/>
          <p:cNvSpPr/>
          <p:nvPr/>
        </p:nvSpPr>
        <p:spPr>
          <a:xfrm>
            <a:off x="566928" y="6199632"/>
            <a:ext cx="5394960" cy="0"/>
          </a:xfrm>
          <a:prstGeom prst="line">
            <a:avLst/>
          </a:prstGeom>
          <a:noFill/>
          <a:ln w="9525">
            <a:solidFill>
              <a:srgbClr val="3C7E82"/>
            </a:solidFill>
            <a:prstDash val="solid"/>
          </a:ln>
        </p:spPr>
      </p:sp>
      <p:sp>
        <p:nvSpPr>
          <p:cNvPr id="8" name="Text 4"/>
          <p:cNvSpPr txBox="1"/>
          <p:nvPr/>
        </p:nvSpPr>
        <p:spPr>
          <a:xfrm>
            <a:off x="566928" y="6364224"/>
            <a:ext cx="3200400" cy="640080"/>
          </a:xfrm>
          <a:prstGeom prst="rect">
            <a:avLst/>
          </a:prstGeom>
          <a:noFill/>
          <a:ln/>
        </p:spPr>
        <p:txBody>
          <a:bodyPr wrap="square" lIns="0" tIns="0" rIns="0" bIns="0" rtlCol="0" anchor="t"/>
          <a:lstStyle/>
          <a:p>
            <a:pPr indent="0" marL="0">
              <a:lnSpc>
                <a:spcPct val="130000"/>
              </a:lnSpc>
              <a:buNone/>
            </a:pPr>
            <a:r>
              <a:rPr lang="en-US" sz="1250" dirty="0">
                <a:solidFill>
                  <a:srgbClr val="DCEAEA"/>
                </a:solidFill>
                <a:latin typeface="Cambria" pitchFamily="34" charset="0"/>
                <a:ea typeface="Cambria" pitchFamily="34" charset="-122"/>
                <a:cs typeface="Cambria" pitchFamily="34" charset="-120"/>
              </a:rPr>
              <a:t>For the people who own, run, buy and finance UK dental practices.</a:t>
            </a:r>
            <a:endParaRPr lang="en-US" sz="1250" dirty="0"/>
          </a:p>
        </p:txBody>
      </p:sp>
      <p:sp>
        <p:nvSpPr>
          <p:cNvPr id="9" name="Text 5"/>
          <p:cNvSpPr txBox="1"/>
          <p:nvPr/>
        </p:nvSpPr>
        <p:spPr>
          <a:xfrm>
            <a:off x="3931920" y="6382512"/>
            <a:ext cx="2194560" cy="201168"/>
          </a:xfrm>
          <a:prstGeom prst="rect">
            <a:avLst/>
          </a:prstGeom>
          <a:noFill/>
          <a:ln/>
        </p:spPr>
        <p:txBody>
          <a:bodyPr wrap="square" lIns="0" tIns="0" rIns="0" bIns="0" rtlCol="0" anchor="ctr"/>
          <a:lstStyle/>
          <a:p>
            <a:pPr algn="r" indent="0" marL="0">
              <a:buNone/>
            </a:pPr>
            <a:r>
              <a:rPr lang="en-US" sz="850" b="1" spc="160" kern="0" dirty="0">
                <a:solidFill>
                  <a:srgbClr val="9FC4C4"/>
                </a:solidFill>
                <a:latin typeface="Consolas" pitchFamily="34" charset="0"/>
                <a:ea typeface="Consolas" pitchFamily="34" charset="-122"/>
                <a:cs typeface="Consolas" pitchFamily="34" charset="-120"/>
              </a:rPr>
              <a:t>DENTALBUSINESSNEWS.COM</a:t>
            </a:r>
            <a:endParaRPr lang="en-US" sz="850" dirty="0"/>
          </a:p>
        </p:txBody>
      </p:sp>
      <p:sp>
        <p:nvSpPr>
          <p:cNvPr id="10" name="Text 6"/>
          <p:cNvSpPr txBox="1"/>
          <p:nvPr/>
        </p:nvSpPr>
        <p:spPr>
          <a:xfrm>
            <a:off x="3931920" y="6583680"/>
            <a:ext cx="2194560" cy="201168"/>
          </a:xfrm>
          <a:prstGeom prst="rect">
            <a:avLst/>
          </a:prstGeom>
          <a:noFill/>
          <a:ln/>
        </p:spPr>
        <p:txBody>
          <a:bodyPr wrap="square" lIns="0" tIns="0" rIns="0" bIns="0" rtlCol="0" anchor="ctr"/>
          <a:lstStyle/>
          <a:p>
            <a:pPr algn="r" indent="0" marL="0">
              <a:buNone/>
            </a:pPr>
            <a:r>
              <a:rPr lang="en-US" sz="850" b="1" spc="160" kern="0" dirty="0">
                <a:solidFill>
                  <a:srgbClr val="7FB8B8"/>
                </a:solidFill>
                <a:latin typeface="Consolas" pitchFamily="34" charset="0"/>
                <a:ea typeface="Consolas" pitchFamily="34" charset="-122"/>
                <a:cs typeface="Consolas" pitchFamily="34" charset="-120"/>
              </a:rPr>
              <a:t>COGENT MULTIMEDIA LTD</a:t>
            </a:r>
            <a:endParaRPr lang="en-US" sz="850" dirty="0"/>
          </a:p>
        </p:txBody>
      </p:sp>
      <p:sp>
        <p:nvSpPr>
          <p:cNvPr id="11" name="Text 7"/>
          <p:cNvSpPr txBox="1"/>
          <p:nvPr/>
        </p:nvSpPr>
        <p:spPr>
          <a:xfrm>
            <a:off x="6492240" y="7178040"/>
            <a:ext cx="2926080" cy="182880"/>
          </a:xfrm>
          <a:prstGeom prst="rect">
            <a:avLst/>
          </a:prstGeom>
          <a:noFill/>
          <a:ln/>
        </p:spPr>
        <p:txBody>
          <a:bodyPr wrap="square" lIns="0" tIns="0" rIns="0" bIns="0" rtlCol="0" anchor="ctr"/>
          <a:lstStyle/>
          <a:p>
            <a:pPr indent="0" marL="0">
              <a:buNone/>
            </a:pPr>
            <a:r>
              <a:rPr lang="en-US" sz="700" dirty="0">
                <a:solidFill>
                  <a:srgbClr val="E8EFEF"/>
                </a:solidFill>
                <a:latin typeface="Consolas" pitchFamily="34" charset="0"/>
                <a:ea typeface="Consolas" pitchFamily="34" charset="-122"/>
                <a:cs typeface="Consolas" pitchFamily="34" charset="-120"/>
              </a:rPr>
              <a:t>Photo: Pepe Carive via Pexels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WHO YOU REACH</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2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WHO YOU REACH</a:t>
            </a:r>
            <a:endParaRPr lang="en-US" sz="950" dirty="0"/>
          </a:p>
        </p:txBody>
      </p:sp>
      <p:sp>
        <p:nvSpPr>
          <p:cNvPr id="6" name="Text 4"/>
          <p:cNvSpPr txBox="1"/>
          <p:nvPr/>
        </p:nvSpPr>
        <p:spPr>
          <a:xfrm>
            <a:off x="566928" y="786384"/>
            <a:ext cx="4846320" cy="137160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The people who
</a:t>
            </a:r>
            <a:pPr indent="0" marL="0">
              <a:lnSpc>
                <a:spcPct val="106000"/>
              </a:lnSpc>
              <a:buNone/>
            </a:pPr>
            <a:r>
              <a:rPr lang="en-US" sz="3000" b="1" dirty="0">
                <a:solidFill>
                  <a:srgbClr val="0B1F24"/>
                </a:solidFill>
                <a:latin typeface="Arial" pitchFamily="34" charset="0"/>
                <a:ea typeface="Arial" pitchFamily="34" charset="-122"/>
                <a:cs typeface="Arial" pitchFamily="34" charset="-120"/>
              </a:rPr>
              <a:t>sign off the spend.</a:t>
            </a:r>
            <a:endParaRPr lang="en-US" sz="3000" dirty="0"/>
          </a:p>
        </p:txBody>
      </p:sp>
      <p:sp>
        <p:nvSpPr>
          <p:cNvPr id="7" name="Text 5"/>
          <p:cNvSpPr txBox="1"/>
          <p:nvPr/>
        </p:nvSpPr>
        <p:spPr>
          <a:xfrm>
            <a:off x="566928" y="2103120"/>
            <a:ext cx="4846320" cy="128016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Dental Business News goes to owners, principals, practice managers and the people who buy for UK dental practices. It launched on 18 September 2026, so the list is young and still loading. These are the real figures rather than projections.</a:t>
            </a:r>
            <a:endParaRPr lang="en-US" sz="1250" dirty="0"/>
          </a:p>
        </p:txBody>
      </p:sp>
      <p:sp>
        <p:nvSpPr>
          <p:cNvPr id="8" name="Text 6"/>
          <p:cNvSpPr txBox="1"/>
          <p:nvPr/>
        </p:nvSpPr>
        <p:spPr>
          <a:xfrm>
            <a:off x="566928" y="3520440"/>
            <a:ext cx="484632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WHAT THEY BUY</a:t>
            </a:r>
            <a:endParaRPr lang="en-US" sz="900" dirty="0"/>
          </a:p>
        </p:txBody>
      </p:sp>
      <p:sp>
        <p:nvSpPr>
          <p:cNvPr id="9" name="Shape 7"/>
          <p:cNvSpPr/>
          <p:nvPr/>
        </p:nvSpPr>
        <p:spPr>
          <a:xfrm>
            <a:off x="594360" y="3858768"/>
            <a:ext cx="91440" cy="91440"/>
          </a:xfrm>
          <a:prstGeom prst="rect">
            <a:avLst/>
          </a:prstGeom>
          <a:solidFill>
            <a:srgbClr val="2BB3AA"/>
          </a:solidFill>
          <a:ln w="12700">
            <a:solidFill>
              <a:srgbClr val="2BB3AA"/>
            </a:solidFill>
            <a:prstDash val="solid"/>
          </a:ln>
        </p:spPr>
      </p:sp>
      <p:sp>
        <p:nvSpPr>
          <p:cNvPr id="10" name="Text 8"/>
          <p:cNvSpPr txBox="1"/>
          <p:nvPr/>
        </p:nvSpPr>
        <p:spPr>
          <a:xfrm>
            <a:off x="859536" y="3785616"/>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Practice management software and technology</a:t>
            </a:r>
            <a:endParaRPr lang="en-US" sz="1200" dirty="0"/>
          </a:p>
        </p:txBody>
      </p:sp>
      <p:sp>
        <p:nvSpPr>
          <p:cNvPr id="11" name="Shape 9"/>
          <p:cNvSpPr/>
          <p:nvPr/>
        </p:nvSpPr>
        <p:spPr>
          <a:xfrm>
            <a:off x="594360" y="4169664"/>
            <a:ext cx="91440" cy="91440"/>
          </a:xfrm>
          <a:prstGeom prst="rect">
            <a:avLst/>
          </a:prstGeom>
          <a:solidFill>
            <a:srgbClr val="2BB3AA"/>
          </a:solidFill>
          <a:ln w="12700">
            <a:solidFill>
              <a:srgbClr val="2BB3AA"/>
            </a:solidFill>
            <a:prstDash val="solid"/>
          </a:ln>
        </p:spPr>
      </p:sp>
      <p:sp>
        <p:nvSpPr>
          <p:cNvPr id="12" name="Text 10"/>
          <p:cNvSpPr txBox="1"/>
          <p:nvPr/>
        </p:nvSpPr>
        <p:spPr>
          <a:xfrm>
            <a:off x="859536" y="4096512"/>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Equipment, chairs and imaging</a:t>
            </a:r>
            <a:endParaRPr lang="en-US" sz="1200" dirty="0"/>
          </a:p>
        </p:txBody>
      </p:sp>
      <p:sp>
        <p:nvSpPr>
          <p:cNvPr id="13" name="Shape 11"/>
          <p:cNvSpPr/>
          <p:nvPr/>
        </p:nvSpPr>
        <p:spPr>
          <a:xfrm>
            <a:off x="594360" y="4480560"/>
            <a:ext cx="91440" cy="91440"/>
          </a:xfrm>
          <a:prstGeom prst="rect">
            <a:avLst/>
          </a:prstGeom>
          <a:solidFill>
            <a:srgbClr val="2BB3AA"/>
          </a:solidFill>
          <a:ln w="12700">
            <a:solidFill>
              <a:srgbClr val="2BB3AA"/>
            </a:solidFill>
            <a:prstDash val="solid"/>
          </a:ln>
        </p:spPr>
      </p:sp>
      <p:sp>
        <p:nvSpPr>
          <p:cNvPr id="14" name="Text 12"/>
          <p:cNvSpPr txBox="1"/>
          <p:nvPr/>
        </p:nvSpPr>
        <p:spPr>
          <a:xfrm>
            <a:off x="859536" y="4407408"/>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Practice finance and patient finance</a:t>
            </a:r>
            <a:endParaRPr lang="en-US" sz="1200" dirty="0"/>
          </a:p>
        </p:txBody>
      </p:sp>
      <p:sp>
        <p:nvSpPr>
          <p:cNvPr id="15" name="Shape 13"/>
          <p:cNvSpPr/>
          <p:nvPr/>
        </p:nvSpPr>
        <p:spPr>
          <a:xfrm>
            <a:off x="594360" y="4791456"/>
            <a:ext cx="91440" cy="91440"/>
          </a:xfrm>
          <a:prstGeom prst="rect">
            <a:avLst/>
          </a:prstGeom>
          <a:solidFill>
            <a:srgbClr val="2BB3AA"/>
          </a:solidFill>
          <a:ln w="12700">
            <a:solidFill>
              <a:srgbClr val="2BB3AA"/>
            </a:solidFill>
            <a:prstDash val="solid"/>
          </a:ln>
        </p:spPr>
      </p:sp>
      <p:sp>
        <p:nvSpPr>
          <p:cNvPr id="16" name="Text 14"/>
          <p:cNvSpPr txBox="1"/>
          <p:nvPr/>
        </p:nvSpPr>
        <p:spPr>
          <a:xfrm>
            <a:off x="859536" y="4718304"/>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Valuation, brokerage and legal advice</a:t>
            </a:r>
            <a:endParaRPr lang="en-US" sz="1200" dirty="0"/>
          </a:p>
        </p:txBody>
      </p:sp>
      <p:sp>
        <p:nvSpPr>
          <p:cNvPr id="17" name="Shape 15"/>
          <p:cNvSpPr/>
          <p:nvPr/>
        </p:nvSpPr>
        <p:spPr>
          <a:xfrm>
            <a:off x="594360" y="5102352"/>
            <a:ext cx="91440" cy="91440"/>
          </a:xfrm>
          <a:prstGeom prst="rect">
            <a:avLst/>
          </a:prstGeom>
          <a:solidFill>
            <a:srgbClr val="2BB3AA"/>
          </a:solidFill>
          <a:ln w="12700">
            <a:solidFill>
              <a:srgbClr val="2BB3AA"/>
            </a:solidFill>
            <a:prstDash val="solid"/>
          </a:ln>
        </p:spPr>
      </p:sp>
      <p:sp>
        <p:nvSpPr>
          <p:cNvPr id="18" name="Text 16"/>
          <p:cNvSpPr txBox="1"/>
          <p:nvPr/>
        </p:nvSpPr>
        <p:spPr>
          <a:xfrm>
            <a:off x="859536" y="5029200"/>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Accountancy, insurance and indemnity</a:t>
            </a:r>
            <a:endParaRPr lang="en-US" sz="1200" dirty="0"/>
          </a:p>
        </p:txBody>
      </p:sp>
      <p:sp>
        <p:nvSpPr>
          <p:cNvPr id="19" name="Shape 17"/>
          <p:cNvSpPr/>
          <p:nvPr/>
        </p:nvSpPr>
        <p:spPr>
          <a:xfrm>
            <a:off x="594360" y="5413248"/>
            <a:ext cx="91440" cy="91440"/>
          </a:xfrm>
          <a:prstGeom prst="rect">
            <a:avLst/>
          </a:prstGeom>
          <a:solidFill>
            <a:srgbClr val="2BB3AA"/>
          </a:solidFill>
          <a:ln w="12700">
            <a:solidFill>
              <a:srgbClr val="2BB3AA"/>
            </a:solidFill>
            <a:prstDash val="solid"/>
          </a:ln>
        </p:spPr>
      </p:sp>
      <p:sp>
        <p:nvSpPr>
          <p:cNvPr id="20" name="Text 18"/>
          <p:cNvSpPr txBox="1"/>
          <p:nvPr/>
        </p:nvSpPr>
        <p:spPr>
          <a:xfrm>
            <a:off x="859536" y="5340096"/>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Recruitment, training and marketing</a:t>
            </a:r>
            <a:endParaRPr lang="en-US" sz="1200" dirty="0"/>
          </a:p>
        </p:txBody>
      </p:sp>
      <p:sp>
        <p:nvSpPr>
          <p:cNvPr id="21" name="Shape 19"/>
          <p:cNvSpPr/>
          <p:nvPr/>
        </p:nvSpPr>
        <p:spPr>
          <a:xfrm>
            <a:off x="5897880" y="475488"/>
            <a:ext cx="4224528" cy="6035040"/>
          </a:xfrm>
          <a:prstGeom prst="rect">
            <a:avLst/>
          </a:prstGeom>
          <a:solidFill>
            <a:srgbClr val="F1F6F6"/>
          </a:solidFill>
          <a:ln w="12700">
            <a:solidFill>
              <a:srgbClr val="F1F6F6"/>
            </a:solidFill>
            <a:prstDash val="solid"/>
          </a:ln>
        </p:spPr>
      </p:sp>
      <p:sp>
        <p:nvSpPr>
          <p:cNvPr id="22" name="Text 20"/>
          <p:cNvSpPr txBox="1"/>
          <p:nvPr/>
        </p:nvSpPr>
        <p:spPr>
          <a:xfrm>
            <a:off x="6263640" y="768096"/>
            <a:ext cx="3493008"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THE LIST TODAY</a:t>
            </a:r>
            <a:endParaRPr lang="en-US" sz="900" dirty="0"/>
          </a:p>
        </p:txBody>
      </p:sp>
      <p:sp>
        <p:nvSpPr>
          <p:cNvPr id="23" name="Text 21"/>
          <p:cNvSpPr txBox="1"/>
          <p:nvPr/>
        </p:nvSpPr>
        <p:spPr>
          <a:xfrm>
            <a:off x="6263640" y="1115568"/>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2,601</a:t>
            </a:r>
            <a:endParaRPr lang="en-US" sz="2600" dirty="0"/>
          </a:p>
        </p:txBody>
      </p:sp>
      <p:sp>
        <p:nvSpPr>
          <p:cNvPr id="24" name="Text 22"/>
          <p:cNvSpPr txBox="1"/>
          <p:nvPr/>
        </p:nvSpPr>
        <p:spPr>
          <a:xfrm>
            <a:off x="7680960" y="1152144"/>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named dental professionals on the newsletter list, 2,358 of them in the UK.</a:t>
            </a:r>
            <a:endParaRPr lang="en-US" sz="1050" dirty="0"/>
          </a:p>
        </p:txBody>
      </p:sp>
      <p:sp>
        <p:nvSpPr>
          <p:cNvPr id="25" name="Text 23"/>
          <p:cNvSpPr txBox="1"/>
          <p:nvPr/>
        </p:nvSpPr>
        <p:spPr>
          <a:xfrm>
            <a:off x="7680960" y="1956816"/>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Dental Business News, 20 October 2026</a:t>
            </a:r>
            <a:endParaRPr lang="en-US" sz="750" dirty="0"/>
          </a:p>
        </p:txBody>
      </p:sp>
      <p:sp>
        <p:nvSpPr>
          <p:cNvPr id="26" name="Shape 24"/>
          <p:cNvSpPr/>
          <p:nvPr/>
        </p:nvSpPr>
        <p:spPr>
          <a:xfrm>
            <a:off x="6263640" y="2377440"/>
            <a:ext cx="3493008" cy="0"/>
          </a:xfrm>
          <a:prstGeom prst="line">
            <a:avLst/>
          </a:prstGeom>
          <a:noFill/>
          <a:ln w="9525">
            <a:solidFill>
              <a:srgbClr val="D8E4E4"/>
            </a:solidFill>
            <a:prstDash val="solid"/>
          </a:ln>
        </p:spPr>
      </p:sp>
      <p:sp>
        <p:nvSpPr>
          <p:cNvPr id="27" name="Text 25"/>
          <p:cNvSpPr txBox="1"/>
          <p:nvPr/>
        </p:nvSpPr>
        <p:spPr>
          <a:xfrm>
            <a:off x="6263640" y="2505456"/>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256</a:t>
            </a:r>
            <a:endParaRPr lang="en-US" sz="2600" dirty="0"/>
          </a:p>
        </p:txBody>
      </p:sp>
      <p:sp>
        <p:nvSpPr>
          <p:cNvPr id="28" name="Text 26"/>
          <p:cNvSpPr txBox="1"/>
          <p:nvPr/>
        </p:nvSpPr>
        <p:spPr>
          <a:xfrm>
            <a:off x="7680960" y="2542032"/>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UK practice owners, principals and practice managers. The buyers, counted strictly.</a:t>
            </a:r>
            <a:endParaRPr lang="en-US" sz="1050" dirty="0"/>
          </a:p>
        </p:txBody>
      </p:sp>
      <p:sp>
        <p:nvSpPr>
          <p:cNvPr id="29" name="Text 27"/>
          <p:cNvSpPr txBox="1"/>
          <p:nvPr/>
        </p:nvSpPr>
        <p:spPr>
          <a:xfrm>
            <a:off x="7680960" y="3346704"/>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247 owners and principals, 9 managers</a:t>
            </a:r>
            <a:endParaRPr lang="en-US" sz="750" dirty="0"/>
          </a:p>
        </p:txBody>
      </p:sp>
      <p:sp>
        <p:nvSpPr>
          <p:cNvPr id="30" name="Shape 28"/>
          <p:cNvSpPr/>
          <p:nvPr/>
        </p:nvSpPr>
        <p:spPr>
          <a:xfrm>
            <a:off x="6263640" y="3767328"/>
            <a:ext cx="3493008" cy="0"/>
          </a:xfrm>
          <a:prstGeom prst="line">
            <a:avLst/>
          </a:prstGeom>
          <a:noFill/>
          <a:ln w="9525">
            <a:solidFill>
              <a:srgbClr val="D8E4E4"/>
            </a:solidFill>
            <a:prstDash val="solid"/>
          </a:ln>
        </p:spPr>
      </p:sp>
      <p:sp>
        <p:nvSpPr>
          <p:cNvPr id="31" name="Text 29"/>
          <p:cNvSpPr txBox="1"/>
          <p:nvPr/>
        </p:nvSpPr>
        <p:spPr>
          <a:xfrm>
            <a:off x="6263640" y="3895344"/>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48.3%</a:t>
            </a:r>
            <a:endParaRPr lang="en-US" sz="2600" dirty="0"/>
          </a:p>
        </p:txBody>
      </p:sp>
      <p:sp>
        <p:nvSpPr>
          <p:cNvPr id="32" name="Text 30"/>
          <p:cNvSpPr txBox="1"/>
          <p:nvPr/>
        </p:nvSpPr>
        <p:spPr>
          <a:xfrm>
            <a:off x="7680960" y="3931920"/>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average open rate across our first seven issues, against an all-industry average of 35.63%.</a:t>
            </a:r>
            <a:endParaRPr lang="en-US" sz="1050" dirty="0"/>
          </a:p>
        </p:txBody>
      </p:sp>
      <p:sp>
        <p:nvSpPr>
          <p:cNvPr id="33" name="Text 31"/>
          <p:cNvSpPr txBox="1"/>
          <p:nvPr/>
        </p:nvSpPr>
        <p:spPr>
          <a:xfrm>
            <a:off x="7680960" y="4736592"/>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11,935 delivered, 5,759 unique opens · Mailchimp benchmark, Dec 2023</a:t>
            </a:r>
            <a:endParaRPr lang="en-US" sz="750" dirty="0"/>
          </a:p>
        </p:txBody>
      </p:sp>
      <p:sp>
        <p:nvSpPr>
          <p:cNvPr id="34" name="Shape 32"/>
          <p:cNvSpPr/>
          <p:nvPr/>
        </p:nvSpPr>
        <p:spPr>
          <a:xfrm>
            <a:off x="6263640" y="5157216"/>
            <a:ext cx="3493008" cy="0"/>
          </a:xfrm>
          <a:prstGeom prst="line">
            <a:avLst/>
          </a:prstGeom>
          <a:noFill/>
          <a:ln w="9525">
            <a:solidFill>
              <a:srgbClr val="D8E4E4"/>
            </a:solidFill>
            <a:prstDash val="solid"/>
          </a:ln>
        </p:spPr>
      </p:sp>
      <p:sp>
        <p:nvSpPr>
          <p:cNvPr id="35" name="Text 33"/>
          <p:cNvSpPr txBox="1"/>
          <p:nvPr/>
        </p:nvSpPr>
        <p:spPr>
          <a:xfrm>
            <a:off x="6263640" y="5285232"/>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0.19%</a:t>
            </a:r>
            <a:endParaRPr lang="en-US" sz="2600" dirty="0"/>
          </a:p>
        </p:txBody>
      </p:sp>
      <p:sp>
        <p:nvSpPr>
          <p:cNvPr id="36" name="Text 34"/>
          <p:cNvSpPr txBox="1"/>
          <p:nvPr/>
        </p:nvSpPr>
        <p:spPr>
          <a:xfrm>
            <a:off x="7680960" y="5321808"/>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unsubscribe rate across the same seven issues, against an all-industry average of 0.22%.</a:t>
            </a:r>
            <a:endParaRPr lang="en-US" sz="1050" dirty="0"/>
          </a:p>
        </p:txBody>
      </p:sp>
      <p:sp>
        <p:nvSpPr>
          <p:cNvPr id="37" name="Text 35"/>
          <p:cNvSpPr txBox="1"/>
          <p:nvPr/>
        </p:nvSpPr>
        <p:spPr>
          <a:xfrm>
            <a:off x="7680960" y="6126480"/>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23 unsubscribes from 11,935 delivered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WHAT YOU CAN BUY</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3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WHAT YOU CAN BUY</a:t>
            </a:r>
            <a:endParaRPr lang="en-US" sz="950" dirty="0"/>
          </a:p>
        </p:txBody>
      </p:sp>
      <p:sp>
        <p:nvSpPr>
          <p:cNvPr id="6" name="Text 4"/>
          <p:cNvSpPr txBox="1"/>
          <p:nvPr/>
        </p:nvSpPr>
        <p:spPr>
          <a:xfrm>
            <a:off x="566928" y="786384"/>
            <a:ext cx="4023360" cy="6400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Four ways in.</a:t>
            </a:r>
            <a:endParaRPr lang="en-US" sz="3000" dirty="0"/>
          </a:p>
        </p:txBody>
      </p:sp>
      <p:sp>
        <p:nvSpPr>
          <p:cNvPr id="7" name="Text 5"/>
          <p:cNvSpPr txBox="1"/>
          <p:nvPr/>
        </p:nvSpPr>
        <p:spPr>
          <a:xfrm>
            <a:off x="566928" y="1572768"/>
            <a:ext cx="3931920" cy="100584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Every format is digital. The list is where the value is on a title this young, so it is priced first and the display is priced honestly.</a:t>
            </a:r>
            <a:endParaRPr lang="en-US" sz="1250" dirty="0"/>
          </a:p>
        </p:txBody>
      </p:sp>
      <p:sp>
        <p:nvSpPr>
          <p:cNvPr id="8" name="Text 6"/>
          <p:cNvSpPr txBox="1"/>
          <p:nvPr/>
        </p:nvSpPr>
        <p:spPr>
          <a:xfrm>
            <a:off x="566928" y="2743200"/>
            <a:ext cx="393192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HOW A BOOKING RUNS</a:t>
            </a:r>
            <a:endParaRPr lang="en-US" sz="900" dirty="0"/>
          </a:p>
        </p:txBody>
      </p:sp>
      <p:sp>
        <p:nvSpPr>
          <p:cNvPr id="9" name="Text 7"/>
          <p:cNvSpPr txBox="1"/>
          <p:nvPr/>
        </p:nvSpPr>
        <p:spPr>
          <a:xfrm>
            <a:off x="566928" y="3108960"/>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01</a:t>
            </a:r>
            <a:endParaRPr lang="en-US" sz="900" dirty="0"/>
          </a:p>
        </p:txBody>
      </p:sp>
      <p:sp>
        <p:nvSpPr>
          <p:cNvPr id="10" name="Text 8"/>
          <p:cNvSpPr txBox="1"/>
          <p:nvPr/>
        </p:nvSpPr>
        <p:spPr>
          <a:xfrm>
            <a:off x="969264" y="3090672"/>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tell us the audience and what you want it to do.</a:t>
            </a:r>
            <a:endParaRPr lang="en-US" sz="1150" dirty="0"/>
          </a:p>
        </p:txBody>
      </p:sp>
      <p:sp>
        <p:nvSpPr>
          <p:cNvPr id="11" name="Text 9"/>
          <p:cNvSpPr txBox="1"/>
          <p:nvPr/>
        </p:nvSpPr>
        <p:spPr>
          <a:xfrm>
            <a:off x="566928" y="3547872"/>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02</a:t>
            </a:r>
            <a:endParaRPr lang="en-US" sz="900" dirty="0"/>
          </a:p>
        </p:txBody>
      </p:sp>
      <p:sp>
        <p:nvSpPr>
          <p:cNvPr id="12" name="Text 10"/>
          <p:cNvSpPr txBox="1"/>
          <p:nvPr/>
        </p:nvSpPr>
        <p:spPr>
          <a:xfrm>
            <a:off x="969264" y="3529584"/>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We confirm format, date and price in writing.</a:t>
            </a:r>
            <a:endParaRPr lang="en-US" sz="1150" dirty="0"/>
          </a:p>
        </p:txBody>
      </p:sp>
      <p:sp>
        <p:nvSpPr>
          <p:cNvPr id="13" name="Text 11"/>
          <p:cNvSpPr txBox="1"/>
          <p:nvPr/>
        </p:nvSpPr>
        <p:spPr>
          <a:xfrm>
            <a:off x="566928" y="3986784"/>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03</a:t>
            </a:r>
            <a:endParaRPr lang="en-US" sz="900" dirty="0"/>
          </a:p>
        </p:txBody>
      </p:sp>
      <p:sp>
        <p:nvSpPr>
          <p:cNvPr id="14" name="Text 12"/>
          <p:cNvSpPr txBox="1"/>
          <p:nvPr/>
        </p:nvSpPr>
        <p:spPr>
          <a:xfrm>
            <a:off x="969264" y="3968496"/>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send artwork, or copy and we build it.</a:t>
            </a:r>
            <a:endParaRPr lang="en-US" sz="1150" dirty="0"/>
          </a:p>
        </p:txBody>
      </p:sp>
      <p:sp>
        <p:nvSpPr>
          <p:cNvPr id="15" name="Text 13"/>
          <p:cNvSpPr txBox="1"/>
          <p:nvPr/>
        </p:nvSpPr>
        <p:spPr>
          <a:xfrm>
            <a:off x="566928" y="4425696"/>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04</a:t>
            </a:r>
            <a:endParaRPr lang="en-US" sz="900" dirty="0"/>
          </a:p>
        </p:txBody>
      </p:sp>
      <p:sp>
        <p:nvSpPr>
          <p:cNvPr id="16" name="Text 14"/>
          <p:cNvSpPr txBox="1"/>
          <p:nvPr/>
        </p:nvSpPr>
        <p:spPr>
          <a:xfrm>
            <a:off x="969264" y="4407408"/>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approve it before anything goes out.</a:t>
            </a:r>
            <a:endParaRPr lang="en-US" sz="1150" dirty="0"/>
          </a:p>
        </p:txBody>
      </p:sp>
      <p:sp>
        <p:nvSpPr>
          <p:cNvPr id="17" name="Text 15"/>
          <p:cNvSpPr txBox="1"/>
          <p:nvPr/>
        </p:nvSpPr>
        <p:spPr>
          <a:xfrm>
            <a:off x="566928" y="4864608"/>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05</a:t>
            </a:r>
            <a:endParaRPr lang="en-US" sz="900" dirty="0"/>
          </a:p>
        </p:txBody>
      </p:sp>
      <p:sp>
        <p:nvSpPr>
          <p:cNvPr id="18" name="Text 16"/>
          <p:cNvSpPr txBox="1"/>
          <p:nvPr/>
        </p:nvSpPr>
        <p:spPr>
          <a:xfrm>
            <a:off x="969264" y="4846320"/>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We send the report on your campaign alone.</a:t>
            </a:r>
            <a:endParaRPr lang="en-US" sz="1150" dirty="0"/>
          </a:p>
        </p:txBody>
      </p:sp>
      <p:sp>
        <p:nvSpPr>
          <p:cNvPr id="19" name="Shape 17"/>
          <p:cNvSpPr/>
          <p:nvPr/>
        </p:nvSpPr>
        <p:spPr>
          <a:xfrm>
            <a:off x="4800600" y="475488"/>
            <a:ext cx="2743200" cy="0"/>
          </a:xfrm>
          <a:prstGeom prst="line">
            <a:avLst/>
          </a:prstGeom>
          <a:noFill/>
          <a:ln w="28575">
            <a:solidFill>
              <a:srgbClr val="0B5E63"/>
            </a:solidFill>
            <a:prstDash val="solid"/>
          </a:ln>
        </p:spPr>
      </p:sp>
      <p:sp>
        <p:nvSpPr>
          <p:cNvPr id="20" name="Shape 18"/>
          <p:cNvSpPr/>
          <p:nvPr/>
        </p:nvSpPr>
        <p:spPr>
          <a:xfrm>
            <a:off x="4800600" y="640080"/>
            <a:ext cx="1143000" cy="1600200"/>
          </a:xfrm>
          <a:prstGeom prst="rect">
            <a:avLst/>
          </a:prstGeom>
          <a:solidFill>
            <a:srgbClr val="F1F6F6"/>
          </a:solidFill>
          <a:ln w="9525">
            <a:solidFill>
              <a:srgbClr val="D8E4E4"/>
            </a:solidFill>
            <a:prstDash val="solid"/>
          </a:ln>
        </p:spPr>
      </p:sp>
      <p:sp>
        <p:nvSpPr>
          <p:cNvPr id="21" name="Shape 19"/>
          <p:cNvSpPr/>
          <p:nvPr/>
        </p:nvSpPr>
        <p:spPr>
          <a:xfrm>
            <a:off x="4910328" y="777240"/>
            <a:ext cx="914400" cy="91440"/>
          </a:xfrm>
          <a:prstGeom prst="rect">
            <a:avLst/>
          </a:prstGeom>
          <a:solidFill>
            <a:srgbClr val="0B1F24"/>
          </a:solidFill>
          <a:ln w="12700">
            <a:solidFill>
              <a:srgbClr val="0B1F24"/>
            </a:solidFill>
            <a:prstDash val="solid"/>
          </a:ln>
        </p:spPr>
      </p:sp>
      <p:sp>
        <p:nvSpPr>
          <p:cNvPr id="22" name="Shape 20"/>
          <p:cNvSpPr/>
          <p:nvPr/>
        </p:nvSpPr>
        <p:spPr>
          <a:xfrm>
            <a:off x="4910328" y="960120"/>
            <a:ext cx="914400" cy="274320"/>
          </a:xfrm>
          <a:prstGeom prst="rect">
            <a:avLst/>
          </a:prstGeom>
          <a:solidFill>
            <a:srgbClr val="2BB3AA"/>
          </a:solidFill>
          <a:ln w="12700">
            <a:solidFill>
              <a:srgbClr val="2BB3AA"/>
            </a:solidFill>
            <a:prstDash val="solid"/>
          </a:ln>
        </p:spPr>
      </p:sp>
      <p:sp>
        <p:nvSpPr>
          <p:cNvPr id="23" name="Text 21"/>
          <p:cNvSpPr txBox="1"/>
          <p:nvPr/>
        </p:nvSpPr>
        <p:spPr>
          <a:xfrm>
            <a:off x="4910328" y="1024128"/>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970×250</a:t>
            </a:r>
            <a:endParaRPr lang="en-US" sz="600" dirty="0"/>
          </a:p>
        </p:txBody>
      </p:sp>
      <p:sp>
        <p:nvSpPr>
          <p:cNvPr id="24" name="Shape 22"/>
          <p:cNvSpPr/>
          <p:nvPr/>
        </p:nvSpPr>
        <p:spPr>
          <a:xfrm>
            <a:off x="4910328" y="1344168"/>
            <a:ext cx="512064" cy="384048"/>
          </a:xfrm>
          <a:prstGeom prst="rect">
            <a:avLst/>
          </a:prstGeom>
          <a:solidFill>
            <a:srgbClr val="D8E4E4"/>
          </a:solidFill>
          <a:ln w="12700">
            <a:solidFill>
              <a:srgbClr val="D8E4E4"/>
            </a:solidFill>
            <a:prstDash val="solid"/>
          </a:ln>
        </p:spPr>
      </p:sp>
      <p:sp>
        <p:nvSpPr>
          <p:cNvPr id="25" name="Shape 23"/>
          <p:cNvSpPr/>
          <p:nvPr/>
        </p:nvSpPr>
        <p:spPr>
          <a:xfrm>
            <a:off x="5495544" y="1344168"/>
            <a:ext cx="329184" cy="384048"/>
          </a:xfrm>
          <a:prstGeom prst="rect">
            <a:avLst/>
          </a:prstGeom>
          <a:solidFill>
            <a:srgbClr val="2BB3AA"/>
          </a:solidFill>
          <a:ln w="12700">
            <a:solidFill>
              <a:srgbClr val="2BB3AA"/>
            </a:solidFill>
            <a:prstDash val="solid"/>
          </a:ln>
        </p:spPr>
      </p:sp>
      <p:sp>
        <p:nvSpPr>
          <p:cNvPr id="26" name="Text 24"/>
          <p:cNvSpPr txBox="1"/>
          <p:nvPr/>
        </p:nvSpPr>
        <p:spPr>
          <a:xfrm>
            <a:off x="5495544" y="1463040"/>
            <a:ext cx="32918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300×250</a:t>
            </a:r>
            <a:endParaRPr lang="en-US" sz="600" dirty="0"/>
          </a:p>
        </p:txBody>
      </p:sp>
      <p:sp>
        <p:nvSpPr>
          <p:cNvPr id="27" name="Shape 25"/>
          <p:cNvSpPr/>
          <p:nvPr/>
        </p:nvSpPr>
        <p:spPr>
          <a:xfrm>
            <a:off x="4910328" y="1819656"/>
            <a:ext cx="548640" cy="182880"/>
          </a:xfrm>
          <a:prstGeom prst="rect">
            <a:avLst/>
          </a:prstGeom>
          <a:solidFill>
            <a:srgbClr val="2BB3AA"/>
          </a:solidFill>
          <a:ln w="12700">
            <a:solidFill>
              <a:srgbClr val="2BB3AA"/>
            </a:solidFill>
            <a:prstDash val="solid"/>
          </a:ln>
        </p:spPr>
      </p:sp>
      <p:sp>
        <p:nvSpPr>
          <p:cNvPr id="28" name="Text 26"/>
          <p:cNvSpPr txBox="1"/>
          <p:nvPr/>
        </p:nvSpPr>
        <p:spPr>
          <a:xfrm>
            <a:off x="4910328" y="1837944"/>
            <a:ext cx="54864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728×90</a:t>
            </a:r>
            <a:endParaRPr lang="en-US" sz="600" dirty="0"/>
          </a:p>
        </p:txBody>
      </p:sp>
      <p:sp>
        <p:nvSpPr>
          <p:cNvPr id="29" name="Shape 27"/>
          <p:cNvSpPr/>
          <p:nvPr/>
        </p:nvSpPr>
        <p:spPr>
          <a:xfrm>
            <a:off x="4910328" y="2075688"/>
            <a:ext cx="749808" cy="64008"/>
          </a:xfrm>
          <a:prstGeom prst="rect">
            <a:avLst/>
          </a:prstGeom>
          <a:solidFill>
            <a:srgbClr val="D8E4E4"/>
          </a:solidFill>
          <a:ln w="12700">
            <a:solidFill>
              <a:srgbClr val="D8E4E4"/>
            </a:solidFill>
            <a:prstDash val="solid"/>
          </a:ln>
        </p:spPr>
      </p:sp>
      <p:sp>
        <p:nvSpPr>
          <p:cNvPr id="30" name="Text 28"/>
          <p:cNvSpPr txBox="1"/>
          <p:nvPr/>
        </p:nvSpPr>
        <p:spPr>
          <a:xfrm>
            <a:off x="6099048" y="658368"/>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Website banners</a:t>
            </a:r>
            <a:endParaRPr lang="en-US" sz="1300" dirty="0"/>
          </a:p>
        </p:txBody>
      </p:sp>
      <p:sp>
        <p:nvSpPr>
          <p:cNvPr id="31" name="Text 29"/>
          <p:cNvSpPr txBox="1"/>
          <p:nvPr/>
        </p:nvSpPr>
        <p:spPr>
          <a:xfrm>
            <a:off x="6099048" y="1353312"/>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brand across the whole site, or on the one section you choose.</a:t>
            </a:r>
            <a:endParaRPr lang="en-US" sz="1000" dirty="0"/>
          </a:p>
        </p:txBody>
      </p:sp>
      <p:sp>
        <p:nvSpPr>
          <p:cNvPr id="32" name="Text 30"/>
          <p:cNvSpPr txBox="1"/>
          <p:nvPr/>
        </p:nvSpPr>
        <p:spPr>
          <a:xfrm>
            <a:off x="4800600" y="2359152"/>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970×250  ·  728×90  ·  300×250</a:t>
            </a:r>
            <a:endParaRPr lang="en-US" sz="750" dirty="0"/>
          </a:p>
        </p:txBody>
      </p:sp>
      <p:sp>
        <p:nvSpPr>
          <p:cNvPr id="33" name="Shape 31"/>
          <p:cNvSpPr/>
          <p:nvPr/>
        </p:nvSpPr>
        <p:spPr>
          <a:xfrm>
            <a:off x="7726680" y="475488"/>
            <a:ext cx="2743200" cy="0"/>
          </a:xfrm>
          <a:prstGeom prst="line">
            <a:avLst/>
          </a:prstGeom>
          <a:noFill/>
          <a:ln w="28575">
            <a:solidFill>
              <a:srgbClr val="0B5E63"/>
            </a:solidFill>
            <a:prstDash val="solid"/>
          </a:ln>
        </p:spPr>
      </p:sp>
      <p:sp>
        <p:nvSpPr>
          <p:cNvPr id="34" name="Shape 32"/>
          <p:cNvSpPr/>
          <p:nvPr/>
        </p:nvSpPr>
        <p:spPr>
          <a:xfrm>
            <a:off x="7726680" y="640080"/>
            <a:ext cx="1143000" cy="1600200"/>
          </a:xfrm>
          <a:prstGeom prst="rect">
            <a:avLst/>
          </a:prstGeom>
          <a:solidFill>
            <a:srgbClr val="F1F6F6"/>
          </a:solidFill>
          <a:ln w="9525">
            <a:solidFill>
              <a:srgbClr val="D8E4E4"/>
            </a:solidFill>
            <a:prstDash val="solid"/>
          </a:ln>
        </p:spPr>
      </p:sp>
      <p:sp>
        <p:nvSpPr>
          <p:cNvPr id="35" name="Shape 33"/>
          <p:cNvSpPr/>
          <p:nvPr/>
        </p:nvSpPr>
        <p:spPr>
          <a:xfrm>
            <a:off x="7836408" y="777240"/>
            <a:ext cx="914400" cy="128016"/>
          </a:xfrm>
          <a:prstGeom prst="rect">
            <a:avLst/>
          </a:prstGeom>
          <a:solidFill>
            <a:srgbClr val="0B1F24"/>
          </a:solidFill>
          <a:ln w="12700">
            <a:solidFill>
              <a:srgbClr val="0B1F24"/>
            </a:solidFill>
            <a:prstDash val="solid"/>
          </a:ln>
        </p:spPr>
      </p:sp>
      <p:sp>
        <p:nvSpPr>
          <p:cNvPr id="36" name="Shape 34"/>
          <p:cNvSpPr/>
          <p:nvPr/>
        </p:nvSpPr>
        <p:spPr>
          <a:xfrm>
            <a:off x="7836408" y="1014984"/>
            <a:ext cx="914400" cy="54864"/>
          </a:xfrm>
          <a:prstGeom prst="rect">
            <a:avLst/>
          </a:prstGeom>
          <a:solidFill>
            <a:srgbClr val="D8E4E4"/>
          </a:solidFill>
          <a:ln w="12700">
            <a:solidFill>
              <a:srgbClr val="D8E4E4"/>
            </a:solidFill>
            <a:prstDash val="solid"/>
          </a:ln>
        </p:spPr>
      </p:sp>
      <p:sp>
        <p:nvSpPr>
          <p:cNvPr id="37" name="Shape 35"/>
          <p:cNvSpPr/>
          <p:nvPr/>
        </p:nvSpPr>
        <p:spPr>
          <a:xfrm>
            <a:off x="7836408" y="1106424"/>
            <a:ext cx="914400" cy="54864"/>
          </a:xfrm>
          <a:prstGeom prst="rect">
            <a:avLst/>
          </a:prstGeom>
          <a:solidFill>
            <a:srgbClr val="D8E4E4"/>
          </a:solidFill>
          <a:ln w="12700">
            <a:solidFill>
              <a:srgbClr val="D8E4E4"/>
            </a:solidFill>
            <a:prstDash val="solid"/>
          </a:ln>
        </p:spPr>
      </p:sp>
      <p:sp>
        <p:nvSpPr>
          <p:cNvPr id="38" name="Shape 36"/>
          <p:cNvSpPr/>
          <p:nvPr/>
        </p:nvSpPr>
        <p:spPr>
          <a:xfrm>
            <a:off x="7836408" y="1197864"/>
            <a:ext cx="914400" cy="54864"/>
          </a:xfrm>
          <a:prstGeom prst="rect">
            <a:avLst/>
          </a:prstGeom>
          <a:solidFill>
            <a:srgbClr val="D8E4E4"/>
          </a:solidFill>
          <a:ln w="12700">
            <a:solidFill>
              <a:srgbClr val="D8E4E4"/>
            </a:solidFill>
            <a:prstDash val="solid"/>
          </a:ln>
        </p:spPr>
      </p:sp>
      <p:sp>
        <p:nvSpPr>
          <p:cNvPr id="39" name="Shape 37"/>
          <p:cNvSpPr/>
          <p:nvPr/>
        </p:nvSpPr>
        <p:spPr>
          <a:xfrm>
            <a:off x="7836408" y="1344168"/>
            <a:ext cx="914400" cy="347472"/>
          </a:xfrm>
          <a:prstGeom prst="rect">
            <a:avLst/>
          </a:prstGeom>
          <a:solidFill>
            <a:srgbClr val="2BB3AA"/>
          </a:solidFill>
          <a:ln w="12700">
            <a:solidFill>
              <a:srgbClr val="2BB3AA"/>
            </a:solidFill>
            <a:prstDash val="solid"/>
          </a:ln>
        </p:spPr>
      </p:sp>
      <p:sp>
        <p:nvSpPr>
          <p:cNvPr id="40" name="Text 38"/>
          <p:cNvSpPr txBox="1"/>
          <p:nvPr/>
        </p:nvSpPr>
        <p:spPr>
          <a:xfrm>
            <a:off x="7836408" y="1444752"/>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Sponsored</a:t>
            </a:r>
            <a:endParaRPr lang="en-US" sz="600" dirty="0"/>
          </a:p>
        </p:txBody>
      </p:sp>
      <p:sp>
        <p:nvSpPr>
          <p:cNvPr id="41" name="Shape 39"/>
          <p:cNvSpPr/>
          <p:nvPr/>
        </p:nvSpPr>
        <p:spPr>
          <a:xfrm>
            <a:off x="7836408" y="1801368"/>
            <a:ext cx="914400" cy="54864"/>
          </a:xfrm>
          <a:prstGeom prst="rect">
            <a:avLst/>
          </a:prstGeom>
          <a:solidFill>
            <a:srgbClr val="D8E4E4"/>
          </a:solidFill>
          <a:ln w="12700">
            <a:solidFill>
              <a:srgbClr val="D8E4E4"/>
            </a:solidFill>
            <a:prstDash val="solid"/>
          </a:ln>
        </p:spPr>
      </p:sp>
      <p:sp>
        <p:nvSpPr>
          <p:cNvPr id="42" name="Shape 40"/>
          <p:cNvSpPr/>
          <p:nvPr/>
        </p:nvSpPr>
        <p:spPr>
          <a:xfrm>
            <a:off x="7836408" y="1892808"/>
            <a:ext cx="914400" cy="54864"/>
          </a:xfrm>
          <a:prstGeom prst="rect">
            <a:avLst/>
          </a:prstGeom>
          <a:solidFill>
            <a:srgbClr val="D8E4E4"/>
          </a:solidFill>
          <a:ln w="12700">
            <a:solidFill>
              <a:srgbClr val="D8E4E4"/>
            </a:solidFill>
            <a:prstDash val="solid"/>
          </a:ln>
        </p:spPr>
      </p:sp>
      <p:sp>
        <p:nvSpPr>
          <p:cNvPr id="43" name="Shape 41"/>
          <p:cNvSpPr/>
          <p:nvPr/>
        </p:nvSpPr>
        <p:spPr>
          <a:xfrm>
            <a:off x="7836408" y="1984248"/>
            <a:ext cx="914400" cy="54864"/>
          </a:xfrm>
          <a:prstGeom prst="rect">
            <a:avLst/>
          </a:prstGeom>
          <a:solidFill>
            <a:srgbClr val="D8E4E4"/>
          </a:solidFill>
          <a:ln w="12700">
            <a:solidFill>
              <a:srgbClr val="D8E4E4"/>
            </a:solidFill>
            <a:prstDash val="solid"/>
          </a:ln>
        </p:spPr>
      </p:sp>
      <p:sp>
        <p:nvSpPr>
          <p:cNvPr id="44" name="Shape 42"/>
          <p:cNvSpPr/>
          <p:nvPr/>
        </p:nvSpPr>
        <p:spPr>
          <a:xfrm>
            <a:off x="7836408" y="2075688"/>
            <a:ext cx="914400" cy="54864"/>
          </a:xfrm>
          <a:prstGeom prst="rect">
            <a:avLst/>
          </a:prstGeom>
          <a:solidFill>
            <a:srgbClr val="D8E4E4"/>
          </a:solidFill>
          <a:ln w="12700">
            <a:solidFill>
              <a:srgbClr val="D8E4E4"/>
            </a:solidFill>
            <a:prstDash val="solid"/>
          </a:ln>
        </p:spPr>
      </p:sp>
      <p:sp>
        <p:nvSpPr>
          <p:cNvPr id="45" name="Text 43"/>
          <p:cNvSpPr txBox="1"/>
          <p:nvPr/>
        </p:nvSpPr>
        <p:spPr>
          <a:xfrm>
            <a:off x="9025128" y="658368"/>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Sponsored newsletter content</a:t>
            </a:r>
            <a:endParaRPr lang="en-US" sz="1300" dirty="0"/>
          </a:p>
        </p:txBody>
      </p:sp>
      <p:sp>
        <p:nvSpPr>
          <p:cNvPr id="46" name="Text 44"/>
          <p:cNvSpPr txBox="1"/>
          <p:nvPr/>
        </p:nvSpPr>
        <p:spPr>
          <a:xfrm>
            <a:off x="9025128" y="1353312"/>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story in The Monday Check-Up, next to our editorial and labelled as sponsored.</a:t>
            </a:r>
            <a:endParaRPr lang="en-US" sz="1000" dirty="0"/>
          </a:p>
        </p:txBody>
      </p:sp>
      <p:sp>
        <p:nvSpPr>
          <p:cNvPr id="47" name="Text 45"/>
          <p:cNvSpPr txBox="1"/>
          <p:nvPr/>
        </p:nvSpPr>
        <p:spPr>
          <a:xfrm>
            <a:off x="7726680" y="2359152"/>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40 words  ·  logo  ·  one link</a:t>
            </a:r>
            <a:endParaRPr lang="en-US" sz="750" dirty="0"/>
          </a:p>
        </p:txBody>
      </p:sp>
      <p:sp>
        <p:nvSpPr>
          <p:cNvPr id="48" name="Shape 46"/>
          <p:cNvSpPr/>
          <p:nvPr/>
        </p:nvSpPr>
        <p:spPr>
          <a:xfrm>
            <a:off x="4800600" y="3063240"/>
            <a:ext cx="2743200" cy="0"/>
          </a:xfrm>
          <a:prstGeom prst="line">
            <a:avLst/>
          </a:prstGeom>
          <a:noFill/>
          <a:ln w="28575">
            <a:solidFill>
              <a:srgbClr val="0B5E63"/>
            </a:solidFill>
            <a:prstDash val="solid"/>
          </a:ln>
        </p:spPr>
      </p:sp>
      <p:sp>
        <p:nvSpPr>
          <p:cNvPr id="49" name="Shape 47"/>
          <p:cNvSpPr/>
          <p:nvPr/>
        </p:nvSpPr>
        <p:spPr>
          <a:xfrm>
            <a:off x="4800600" y="3227832"/>
            <a:ext cx="1143000" cy="1600200"/>
          </a:xfrm>
          <a:prstGeom prst="rect">
            <a:avLst/>
          </a:prstGeom>
          <a:solidFill>
            <a:srgbClr val="F1F6F6"/>
          </a:solidFill>
          <a:ln w="9525">
            <a:solidFill>
              <a:srgbClr val="D8E4E4"/>
            </a:solidFill>
            <a:prstDash val="solid"/>
          </a:ln>
        </p:spPr>
      </p:sp>
      <p:sp>
        <p:nvSpPr>
          <p:cNvPr id="50" name="Shape 48"/>
          <p:cNvSpPr/>
          <p:nvPr/>
        </p:nvSpPr>
        <p:spPr>
          <a:xfrm>
            <a:off x="4910328" y="3364992"/>
            <a:ext cx="914400" cy="128016"/>
          </a:xfrm>
          <a:prstGeom prst="rect">
            <a:avLst/>
          </a:prstGeom>
          <a:solidFill>
            <a:srgbClr val="0B1F24"/>
          </a:solidFill>
          <a:ln w="12700">
            <a:solidFill>
              <a:srgbClr val="0B1F24"/>
            </a:solidFill>
            <a:prstDash val="solid"/>
          </a:ln>
        </p:spPr>
      </p:sp>
      <p:sp>
        <p:nvSpPr>
          <p:cNvPr id="51" name="Shape 49"/>
          <p:cNvSpPr/>
          <p:nvPr/>
        </p:nvSpPr>
        <p:spPr>
          <a:xfrm>
            <a:off x="4910328" y="3547872"/>
            <a:ext cx="914400" cy="201168"/>
          </a:xfrm>
          <a:prstGeom prst="rect">
            <a:avLst/>
          </a:prstGeom>
          <a:solidFill>
            <a:srgbClr val="2BB3AA"/>
          </a:solidFill>
          <a:ln w="12700">
            <a:solidFill>
              <a:srgbClr val="2BB3AA"/>
            </a:solidFill>
            <a:prstDash val="solid"/>
          </a:ln>
        </p:spPr>
      </p:sp>
      <p:sp>
        <p:nvSpPr>
          <p:cNvPr id="52" name="Text 50"/>
          <p:cNvSpPr txBox="1"/>
          <p:nvPr/>
        </p:nvSpPr>
        <p:spPr>
          <a:xfrm>
            <a:off x="4910328" y="3575304"/>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Sponsor</a:t>
            </a:r>
            <a:endParaRPr lang="en-US" sz="600" dirty="0"/>
          </a:p>
        </p:txBody>
      </p:sp>
      <p:sp>
        <p:nvSpPr>
          <p:cNvPr id="53" name="Shape 51"/>
          <p:cNvSpPr/>
          <p:nvPr/>
        </p:nvSpPr>
        <p:spPr>
          <a:xfrm>
            <a:off x="4910328" y="3858768"/>
            <a:ext cx="914400" cy="91440"/>
          </a:xfrm>
          <a:prstGeom prst="rect">
            <a:avLst/>
          </a:prstGeom>
          <a:solidFill>
            <a:srgbClr val="D8E4E4"/>
          </a:solidFill>
          <a:ln w="12700">
            <a:solidFill>
              <a:srgbClr val="D8E4E4"/>
            </a:solidFill>
            <a:prstDash val="solid"/>
          </a:ln>
        </p:spPr>
      </p:sp>
      <p:sp>
        <p:nvSpPr>
          <p:cNvPr id="54" name="Shape 52"/>
          <p:cNvSpPr/>
          <p:nvPr/>
        </p:nvSpPr>
        <p:spPr>
          <a:xfrm>
            <a:off x="4910328" y="4005072"/>
            <a:ext cx="914400" cy="91440"/>
          </a:xfrm>
          <a:prstGeom prst="rect">
            <a:avLst/>
          </a:prstGeom>
          <a:solidFill>
            <a:srgbClr val="D8E4E4"/>
          </a:solidFill>
          <a:ln w="12700">
            <a:solidFill>
              <a:srgbClr val="D8E4E4"/>
            </a:solidFill>
            <a:prstDash val="solid"/>
          </a:ln>
        </p:spPr>
      </p:sp>
      <p:sp>
        <p:nvSpPr>
          <p:cNvPr id="55" name="Shape 53"/>
          <p:cNvSpPr/>
          <p:nvPr/>
        </p:nvSpPr>
        <p:spPr>
          <a:xfrm>
            <a:off x="4910328" y="4151376"/>
            <a:ext cx="914400" cy="91440"/>
          </a:xfrm>
          <a:prstGeom prst="rect">
            <a:avLst/>
          </a:prstGeom>
          <a:solidFill>
            <a:srgbClr val="D8E4E4"/>
          </a:solidFill>
          <a:ln w="12700">
            <a:solidFill>
              <a:srgbClr val="D8E4E4"/>
            </a:solidFill>
            <a:prstDash val="solid"/>
          </a:ln>
        </p:spPr>
      </p:sp>
      <p:sp>
        <p:nvSpPr>
          <p:cNvPr id="56" name="Shape 54"/>
          <p:cNvSpPr/>
          <p:nvPr/>
        </p:nvSpPr>
        <p:spPr>
          <a:xfrm>
            <a:off x="4910328" y="4297680"/>
            <a:ext cx="603504" cy="64008"/>
          </a:xfrm>
          <a:prstGeom prst="rect">
            <a:avLst/>
          </a:prstGeom>
          <a:solidFill>
            <a:srgbClr val="D8E4E4"/>
          </a:solidFill>
          <a:ln w="12700">
            <a:solidFill>
              <a:srgbClr val="D8E4E4"/>
            </a:solidFill>
            <a:prstDash val="solid"/>
          </a:ln>
        </p:spPr>
      </p:sp>
      <p:sp>
        <p:nvSpPr>
          <p:cNvPr id="57" name="Shape 55"/>
          <p:cNvSpPr/>
          <p:nvPr/>
        </p:nvSpPr>
        <p:spPr>
          <a:xfrm>
            <a:off x="4910328" y="4498848"/>
            <a:ext cx="914400" cy="219456"/>
          </a:xfrm>
          <a:prstGeom prst="rect">
            <a:avLst/>
          </a:prstGeom>
          <a:solidFill>
            <a:srgbClr val="2BB3AA"/>
          </a:solidFill>
          <a:ln w="12700">
            <a:solidFill>
              <a:srgbClr val="2BB3AA"/>
            </a:solidFill>
            <a:prstDash val="solid"/>
          </a:ln>
        </p:spPr>
      </p:sp>
      <p:sp>
        <p:nvSpPr>
          <p:cNvPr id="58" name="Text 56"/>
          <p:cNvSpPr txBox="1"/>
          <p:nvPr/>
        </p:nvSpPr>
        <p:spPr>
          <a:xfrm>
            <a:off x="4910328" y="4535424"/>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Banner</a:t>
            </a:r>
            <a:endParaRPr lang="en-US" sz="600" dirty="0"/>
          </a:p>
        </p:txBody>
      </p:sp>
      <p:sp>
        <p:nvSpPr>
          <p:cNvPr id="59" name="Text 57"/>
          <p:cNvSpPr txBox="1"/>
          <p:nvPr/>
        </p:nvSpPr>
        <p:spPr>
          <a:xfrm>
            <a:off x="6099048" y="3246120"/>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Newsletter sponsorship</a:t>
            </a:r>
            <a:endParaRPr lang="en-US" sz="1300" dirty="0"/>
          </a:p>
        </p:txBody>
      </p:sp>
      <p:sp>
        <p:nvSpPr>
          <p:cNvPr id="60" name="Text 58"/>
          <p:cNvSpPr txBox="1"/>
          <p:nvPr/>
        </p:nvSpPr>
        <p:spPr>
          <a:xfrm>
            <a:off x="6099048" y="3941064"/>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brand as the named sponsor of every issue of The Monday Check-Up.</a:t>
            </a:r>
            <a:endParaRPr lang="en-US" sz="1000" dirty="0"/>
          </a:p>
        </p:txBody>
      </p:sp>
      <p:sp>
        <p:nvSpPr>
          <p:cNvPr id="61" name="Text 59"/>
          <p:cNvSpPr txBox="1"/>
          <p:nvPr/>
        </p:nvSpPr>
        <p:spPr>
          <a:xfrm>
            <a:off x="4800600" y="4946904"/>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Per issue, or four at a time</a:t>
            </a:r>
            <a:endParaRPr lang="en-US" sz="750" dirty="0"/>
          </a:p>
        </p:txBody>
      </p:sp>
      <p:sp>
        <p:nvSpPr>
          <p:cNvPr id="62" name="Shape 60"/>
          <p:cNvSpPr/>
          <p:nvPr/>
        </p:nvSpPr>
        <p:spPr>
          <a:xfrm>
            <a:off x="7726680" y="3063240"/>
            <a:ext cx="2743200" cy="0"/>
          </a:xfrm>
          <a:prstGeom prst="line">
            <a:avLst/>
          </a:prstGeom>
          <a:noFill/>
          <a:ln w="28575">
            <a:solidFill>
              <a:srgbClr val="0B5E63"/>
            </a:solidFill>
            <a:prstDash val="solid"/>
          </a:ln>
        </p:spPr>
      </p:sp>
      <p:sp>
        <p:nvSpPr>
          <p:cNvPr id="63" name="Shape 61"/>
          <p:cNvSpPr/>
          <p:nvPr/>
        </p:nvSpPr>
        <p:spPr>
          <a:xfrm>
            <a:off x="7726680" y="3227832"/>
            <a:ext cx="1143000" cy="1600200"/>
          </a:xfrm>
          <a:prstGeom prst="rect">
            <a:avLst/>
          </a:prstGeom>
          <a:solidFill>
            <a:srgbClr val="F1F6F6"/>
          </a:solidFill>
          <a:ln w="9525">
            <a:solidFill>
              <a:srgbClr val="D8E4E4"/>
            </a:solidFill>
            <a:prstDash val="solid"/>
          </a:ln>
        </p:spPr>
      </p:sp>
      <p:sp>
        <p:nvSpPr>
          <p:cNvPr id="64" name="Shape 62"/>
          <p:cNvSpPr/>
          <p:nvPr/>
        </p:nvSpPr>
        <p:spPr>
          <a:xfrm>
            <a:off x="7836408" y="3364992"/>
            <a:ext cx="914400" cy="128016"/>
          </a:xfrm>
          <a:prstGeom prst="rect">
            <a:avLst/>
          </a:prstGeom>
          <a:solidFill>
            <a:srgbClr val="0B1F24"/>
          </a:solidFill>
          <a:ln w="12700">
            <a:solidFill>
              <a:srgbClr val="0B1F24"/>
            </a:solidFill>
            <a:prstDash val="solid"/>
          </a:ln>
        </p:spPr>
      </p:sp>
      <p:sp>
        <p:nvSpPr>
          <p:cNvPr id="65" name="Shape 63"/>
          <p:cNvSpPr/>
          <p:nvPr/>
        </p:nvSpPr>
        <p:spPr>
          <a:xfrm>
            <a:off x="7836408" y="3584448"/>
            <a:ext cx="914400" cy="1115568"/>
          </a:xfrm>
          <a:prstGeom prst="rect">
            <a:avLst/>
          </a:prstGeom>
          <a:solidFill>
            <a:srgbClr val="2BB3AA"/>
          </a:solidFill>
          <a:ln w="12700">
            <a:solidFill>
              <a:srgbClr val="2BB3AA"/>
            </a:solidFill>
            <a:prstDash val="solid"/>
          </a:ln>
        </p:spPr>
      </p:sp>
      <p:sp>
        <p:nvSpPr>
          <p:cNvPr id="66" name="Text 64"/>
          <p:cNvSpPr txBox="1"/>
          <p:nvPr/>
        </p:nvSpPr>
        <p:spPr>
          <a:xfrm>
            <a:off x="7836408" y="4069080"/>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Your email</a:t>
            </a:r>
            <a:endParaRPr lang="en-US" sz="600" dirty="0"/>
          </a:p>
        </p:txBody>
      </p:sp>
      <p:sp>
        <p:nvSpPr>
          <p:cNvPr id="67" name="Text 65"/>
          <p:cNvSpPr txBox="1"/>
          <p:nvPr/>
        </p:nvSpPr>
        <p:spPr>
          <a:xfrm>
            <a:off x="9025128" y="3246120"/>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Solus email</a:t>
            </a:r>
            <a:endParaRPr lang="en-US" sz="1300" dirty="0"/>
          </a:p>
        </p:txBody>
      </p:sp>
      <p:sp>
        <p:nvSpPr>
          <p:cNvPr id="68" name="Text 66"/>
          <p:cNvSpPr txBox="1"/>
          <p:nvPr/>
        </p:nvSpPr>
        <p:spPr>
          <a:xfrm>
            <a:off x="9025128" y="3941064"/>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own email, sent to our subscribers. Nobody else in it. Full UK list or the 256 decision makers only.</a:t>
            </a:r>
            <a:endParaRPr lang="en-US" sz="1000" dirty="0"/>
          </a:p>
        </p:txBody>
      </p:sp>
      <p:sp>
        <p:nvSpPr>
          <p:cNvPr id="69" name="Text 67"/>
          <p:cNvSpPr txBox="1"/>
          <p:nvPr/>
        </p:nvSpPr>
        <p:spPr>
          <a:xfrm>
            <a:off x="7726680" y="4946904"/>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We build it, or send finished HTML</a:t>
            </a:r>
            <a:endParaRPr lang="en-US" sz="750" dirty="0"/>
          </a:p>
        </p:txBody>
      </p:sp>
      <p:sp>
        <p:nvSpPr>
          <p:cNvPr id="70" name="Shape 68"/>
          <p:cNvSpPr/>
          <p:nvPr/>
        </p:nvSpPr>
        <p:spPr>
          <a:xfrm>
            <a:off x="566928" y="5230368"/>
            <a:ext cx="3931920" cy="1005840"/>
          </a:xfrm>
          <a:prstGeom prst="rect">
            <a:avLst/>
          </a:prstGeom>
          <a:solidFill>
            <a:srgbClr val="0B1F24"/>
          </a:solidFill>
          <a:ln w="12700">
            <a:solidFill>
              <a:srgbClr val="0B1F24"/>
            </a:solidFill>
            <a:prstDash val="solid"/>
          </a:ln>
        </p:spPr>
      </p:sp>
      <p:sp>
        <p:nvSpPr>
          <p:cNvPr id="71" name="Text 69"/>
          <p:cNvSpPr txBox="1"/>
          <p:nvPr/>
        </p:nvSpPr>
        <p:spPr>
          <a:xfrm>
            <a:off x="804672" y="5413248"/>
            <a:ext cx="345643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RECOMMENDED FOR A FIRST CAMPAIGN</a:t>
            </a:r>
            <a:endParaRPr lang="en-US" sz="900" dirty="0"/>
          </a:p>
        </p:txBody>
      </p:sp>
      <p:sp>
        <p:nvSpPr>
          <p:cNvPr id="72" name="Text 70"/>
          <p:cNvSpPr txBox="1"/>
          <p:nvPr/>
        </p:nvSpPr>
        <p:spPr>
          <a:xfrm>
            <a:off x="804672" y="5650992"/>
            <a:ext cx="3456432" cy="384048"/>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A sponsored article, then an eshot</a:t>
            </a:r>
            <a:endParaRPr lang="en-US" sz="1250" dirty="0"/>
          </a:p>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pointing at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RATES</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4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RATES</a:t>
            </a:r>
            <a:endParaRPr lang="en-US" sz="950" dirty="0"/>
          </a:p>
        </p:txBody>
      </p:sp>
      <p:sp>
        <p:nvSpPr>
          <p:cNvPr id="6" name="Text 4"/>
          <p:cNvSpPr txBox="1"/>
          <p:nvPr/>
        </p:nvSpPr>
        <p:spPr>
          <a:xfrm>
            <a:off x="566928" y="786384"/>
            <a:ext cx="4206240" cy="6400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What it costs.</a:t>
            </a:r>
            <a:endParaRPr lang="en-US" sz="3000" dirty="0"/>
          </a:p>
        </p:txBody>
      </p:sp>
      <p:sp>
        <p:nvSpPr>
          <p:cNvPr id="7" name="Text 5"/>
          <p:cNvSpPr txBox="1"/>
          <p:nvPr/>
        </p:nvSpPr>
        <p:spPr>
          <a:xfrm>
            <a:off x="566928" y="1572768"/>
            <a:ext cx="3566160" cy="109728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Founding advertiser rates while the title is in its first year. Everything is sold one advertiser at a time and booked in the order enquiries are confirmed.</a:t>
            </a:r>
            <a:endParaRPr lang="en-US" sz="1250" dirty="0"/>
          </a:p>
        </p:txBody>
      </p:sp>
      <p:sp>
        <p:nvSpPr>
          <p:cNvPr id="8" name="Shape 6"/>
          <p:cNvSpPr/>
          <p:nvPr/>
        </p:nvSpPr>
        <p:spPr>
          <a:xfrm>
            <a:off x="566928" y="5120640"/>
            <a:ext cx="3566160" cy="1115568"/>
          </a:xfrm>
          <a:prstGeom prst="rect">
            <a:avLst/>
          </a:prstGeom>
          <a:solidFill>
            <a:srgbClr val="0B1F24"/>
          </a:solidFill>
          <a:ln w="12700">
            <a:solidFill>
              <a:srgbClr val="0B1F24"/>
            </a:solidFill>
            <a:prstDash val="solid"/>
          </a:ln>
        </p:spPr>
      </p:sp>
      <p:sp>
        <p:nvSpPr>
          <p:cNvPr id="9" name="Text 7"/>
          <p:cNvSpPr txBox="1"/>
          <p:nvPr/>
        </p:nvSpPr>
        <p:spPr>
          <a:xfrm>
            <a:off x="804672" y="5303520"/>
            <a:ext cx="309067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TALK IT THROUGH</a:t>
            </a:r>
            <a:endParaRPr lang="en-US" sz="900" dirty="0"/>
          </a:p>
        </p:txBody>
      </p:sp>
      <p:sp>
        <p:nvSpPr>
          <p:cNvPr id="10" name="Text 8">
            <a:hlinkClick r:id="rId1" tooltip=""/>
          </p:cNvPr>
          <p:cNvSpPr txBox="1"/>
          <p:nvPr/>
        </p:nvSpPr>
        <p:spPr>
          <a:xfrm>
            <a:off x="804672" y="5541264"/>
            <a:ext cx="3090672" cy="493776"/>
          </a:xfrm>
          <a:prstGeom prst="rect">
            <a:avLst/>
          </a:prstGeom>
          <a:noFill/>
          <a:ln/>
        </p:spPr>
        <p:txBody>
          <a:bodyPr wrap="square" lIns="0" tIns="0" rIns="0" bIns="0" rtlCol="0" anchor="t"/>
          <a:lstStyle/>
          <a:p>
            <a:pPr indent="0" marL="0">
              <a:lnSpc>
                <a:spcPct val="120000"/>
              </a:lnSpc>
              <a:buNone/>
            </a:pPr>
            <a:r>
              <a:rPr lang="en-US" sz="125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jb@dentalbusinessnews.com</a:t>
            </a:r>
            <a:endParaRPr lang="en-US" sz="1250" dirty="0"/>
          </a:p>
        </p:txBody>
      </p:sp>
      <p:sp>
        <p:nvSpPr>
          <p:cNvPr id="11" name="Shape 9"/>
          <p:cNvSpPr/>
          <p:nvPr/>
        </p:nvSpPr>
        <p:spPr>
          <a:xfrm>
            <a:off x="4434840" y="475488"/>
            <a:ext cx="5687568" cy="384048"/>
          </a:xfrm>
          <a:prstGeom prst="rect">
            <a:avLst/>
          </a:prstGeom>
          <a:solidFill>
            <a:srgbClr val="0B5E63"/>
          </a:solidFill>
          <a:ln w="12700">
            <a:solidFill>
              <a:srgbClr val="0B5E63"/>
            </a:solidFill>
            <a:prstDash val="solid"/>
          </a:ln>
        </p:spPr>
      </p:sp>
      <p:sp>
        <p:nvSpPr>
          <p:cNvPr id="12" name="Text 10"/>
          <p:cNvSpPr txBox="1"/>
          <p:nvPr/>
        </p:nvSpPr>
        <p:spPr>
          <a:xfrm>
            <a:off x="4636008" y="576072"/>
            <a:ext cx="2377440" cy="182880"/>
          </a:xfrm>
          <a:prstGeom prst="rect">
            <a:avLst/>
          </a:prstGeom>
          <a:noFill/>
          <a:ln/>
        </p:spPr>
        <p:txBody>
          <a:bodyPr wrap="square" lIns="0" tIns="0" rIns="0" bIns="0" rtlCol="0" anchor="ctr"/>
          <a:lstStyle/>
          <a:p>
            <a:pPr indent="0" marL="0">
              <a:buNone/>
            </a:pPr>
            <a:r>
              <a:rPr lang="en-US" sz="800" b="1" spc="160" kern="0" dirty="0">
                <a:solidFill>
                  <a:srgbClr val="FFFFFF"/>
                </a:solidFill>
                <a:latin typeface="Consolas" pitchFamily="34" charset="0"/>
                <a:ea typeface="Consolas" pitchFamily="34" charset="-122"/>
                <a:cs typeface="Consolas" pitchFamily="34" charset="-120"/>
              </a:rPr>
              <a:t>FORMAT</a:t>
            </a:r>
            <a:endParaRPr lang="en-US" sz="800" dirty="0"/>
          </a:p>
        </p:txBody>
      </p:sp>
      <p:sp>
        <p:nvSpPr>
          <p:cNvPr id="13" name="Text 11"/>
          <p:cNvSpPr txBox="1"/>
          <p:nvPr/>
        </p:nvSpPr>
        <p:spPr>
          <a:xfrm>
            <a:off x="7178040" y="576072"/>
            <a:ext cx="868680" cy="182880"/>
          </a:xfrm>
          <a:prstGeom prst="rect">
            <a:avLst/>
          </a:prstGeom>
          <a:noFill/>
          <a:ln/>
        </p:spPr>
        <p:txBody>
          <a:bodyPr wrap="square" lIns="0" tIns="0" rIns="0" bIns="0" rtlCol="0" anchor="ctr"/>
          <a:lstStyle/>
          <a:p>
            <a:pPr algn="r" indent="0" marL="0">
              <a:buNone/>
            </a:pPr>
            <a:r>
              <a:rPr lang="en-US" sz="800" b="1" spc="160" kern="0" dirty="0">
                <a:solidFill>
                  <a:srgbClr val="FFFFFF"/>
                </a:solidFill>
                <a:latin typeface="Consolas" pitchFamily="34" charset="0"/>
                <a:ea typeface="Consolas" pitchFamily="34" charset="-122"/>
                <a:cs typeface="Consolas" pitchFamily="34" charset="-120"/>
              </a:rPr>
              <a:t>ONE</a:t>
            </a:r>
            <a:endParaRPr lang="en-US" sz="800" dirty="0"/>
          </a:p>
        </p:txBody>
      </p:sp>
      <p:sp>
        <p:nvSpPr>
          <p:cNvPr id="14" name="Text 12"/>
          <p:cNvSpPr txBox="1"/>
          <p:nvPr/>
        </p:nvSpPr>
        <p:spPr>
          <a:xfrm>
            <a:off x="8138160" y="576072"/>
            <a:ext cx="868680" cy="182880"/>
          </a:xfrm>
          <a:prstGeom prst="rect">
            <a:avLst/>
          </a:prstGeom>
          <a:noFill/>
          <a:ln/>
        </p:spPr>
        <p:txBody>
          <a:bodyPr wrap="square" lIns="0" tIns="0" rIns="0" bIns="0" rtlCol="0" anchor="ctr"/>
          <a:lstStyle/>
          <a:p>
            <a:pPr algn="r" indent="0" marL="0">
              <a:buNone/>
            </a:pPr>
            <a:r>
              <a:rPr lang="en-US" sz="800" b="1" spc="160" kern="0" dirty="0">
                <a:solidFill>
                  <a:srgbClr val="FFFFFF"/>
                </a:solidFill>
                <a:latin typeface="Consolas" pitchFamily="34" charset="0"/>
                <a:ea typeface="Consolas" pitchFamily="34" charset="-122"/>
                <a:cs typeface="Consolas" pitchFamily="34" charset="-120"/>
              </a:rPr>
              <a:t>THREE</a:t>
            </a:r>
            <a:endParaRPr lang="en-US" sz="800" dirty="0"/>
          </a:p>
        </p:txBody>
      </p:sp>
      <p:sp>
        <p:nvSpPr>
          <p:cNvPr id="15" name="Text 13"/>
          <p:cNvSpPr txBox="1"/>
          <p:nvPr/>
        </p:nvSpPr>
        <p:spPr>
          <a:xfrm>
            <a:off x="9098280" y="576072"/>
            <a:ext cx="868680" cy="182880"/>
          </a:xfrm>
          <a:prstGeom prst="rect">
            <a:avLst/>
          </a:prstGeom>
          <a:noFill/>
          <a:ln/>
        </p:spPr>
        <p:txBody>
          <a:bodyPr wrap="square" lIns="0" tIns="0" rIns="0" bIns="0" rtlCol="0" anchor="ctr"/>
          <a:lstStyle/>
          <a:p>
            <a:pPr algn="r" indent="0" marL="0">
              <a:buNone/>
            </a:pPr>
            <a:r>
              <a:rPr lang="en-US" sz="800" b="1" spc="160" kern="0" dirty="0">
                <a:solidFill>
                  <a:srgbClr val="FFFFFF"/>
                </a:solidFill>
                <a:latin typeface="Consolas" pitchFamily="34" charset="0"/>
                <a:ea typeface="Consolas" pitchFamily="34" charset="-122"/>
                <a:cs typeface="Consolas" pitchFamily="34" charset="-120"/>
              </a:rPr>
              <a:t>SIX</a:t>
            </a:r>
            <a:endParaRPr lang="en-US" sz="800" dirty="0"/>
          </a:p>
        </p:txBody>
      </p:sp>
      <p:sp>
        <p:nvSpPr>
          <p:cNvPr id="16" name="Shape 14"/>
          <p:cNvSpPr/>
          <p:nvPr/>
        </p:nvSpPr>
        <p:spPr>
          <a:xfrm>
            <a:off x="4434840" y="859536"/>
            <a:ext cx="5687568" cy="310896"/>
          </a:xfrm>
          <a:prstGeom prst="rect">
            <a:avLst/>
          </a:prstGeom>
          <a:solidFill>
            <a:srgbClr val="F1F6F6"/>
          </a:solidFill>
          <a:ln w="12700">
            <a:solidFill>
              <a:srgbClr val="F1F6F6"/>
            </a:solidFill>
            <a:prstDash val="solid"/>
          </a:ln>
        </p:spPr>
      </p:sp>
      <p:sp>
        <p:nvSpPr>
          <p:cNvPr id="17" name="Text 15"/>
          <p:cNvSpPr txBox="1"/>
          <p:nvPr/>
        </p:nvSpPr>
        <p:spPr>
          <a:xfrm>
            <a:off x="4636008" y="94183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EMAIL</a:t>
            </a:r>
            <a:endParaRPr lang="en-US" sz="800" dirty="0"/>
          </a:p>
        </p:txBody>
      </p:sp>
      <p:sp>
        <p:nvSpPr>
          <p:cNvPr id="18" name="Text 16"/>
          <p:cNvSpPr txBox="1"/>
          <p:nvPr/>
        </p:nvSpPr>
        <p:spPr>
          <a:xfrm>
            <a:off x="4636008" y="1280160"/>
            <a:ext cx="23774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Eshot</a:t>
            </a:r>
            <a:endParaRPr lang="en-US" sz="1050" dirty="0"/>
          </a:p>
        </p:txBody>
      </p:sp>
      <p:sp>
        <p:nvSpPr>
          <p:cNvPr id="19" name="Text 17"/>
          <p:cNvSpPr txBox="1"/>
          <p:nvPr/>
        </p:nvSpPr>
        <p:spPr>
          <a:xfrm>
            <a:off x="4636008" y="1499616"/>
            <a:ext cx="2286000" cy="329184"/>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Your message alone, nobody else in it</a:t>
            </a:r>
            <a:endParaRPr lang="en-US" sz="950" dirty="0"/>
          </a:p>
        </p:txBody>
      </p:sp>
      <p:sp>
        <p:nvSpPr>
          <p:cNvPr id="20" name="Text 18"/>
          <p:cNvSpPr txBox="1"/>
          <p:nvPr/>
        </p:nvSpPr>
        <p:spPr>
          <a:xfrm>
            <a:off x="7178040" y="1316736"/>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£700</a:t>
            </a:r>
            <a:endParaRPr lang="en-US" sz="1200" dirty="0"/>
          </a:p>
        </p:txBody>
      </p:sp>
      <p:sp>
        <p:nvSpPr>
          <p:cNvPr id="21" name="Text 19"/>
          <p:cNvSpPr txBox="1"/>
          <p:nvPr/>
        </p:nvSpPr>
        <p:spPr>
          <a:xfrm>
            <a:off x="8138160" y="1316736"/>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£1,500</a:t>
            </a:r>
            <a:endParaRPr lang="en-US" sz="1200" dirty="0"/>
          </a:p>
        </p:txBody>
      </p:sp>
      <p:sp>
        <p:nvSpPr>
          <p:cNvPr id="22" name="Text 20"/>
          <p:cNvSpPr txBox="1"/>
          <p:nvPr/>
        </p:nvSpPr>
        <p:spPr>
          <a:xfrm>
            <a:off x="9098280" y="1316736"/>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£2,400</a:t>
            </a:r>
            <a:endParaRPr lang="en-US" sz="1200" dirty="0"/>
          </a:p>
        </p:txBody>
      </p:sp>
      <p:sp>
        <p:nvSpPr>
          <p:cNvPr id="23" name="Shape 21"/>
          <p:cNvSpPr/>
          <p:nvPr/>
        </p:nvSpPr>
        <p:spPr>
          <a:xfrm>
            <a:off x="4434840" y="1892808"/>
            <a:ext cx="5687568" cy="0"/>
          </a:xfrm>
          <a:prstGeom prst="line">
            <a:avLst/>
          </a:prstGeom>
          <a:noFill/>
          <a:ln w="9525">
            <a:solidFill>
              <a:srgbClr val="D8E4E4"/>
            </a:solidFill>
            <a:prstDash val="solid"/>
          </a:ln>
        </p:spPr>
      </p:sp>
      <p:sp>
        <p:nvSpPr>
          <p:cNvPr id="24" name="Text 22"/>
          <p:cNvSpPr txBox="1"/>
          <p:nvPr/>
        </p:nvSpPr>
        <p:spPr>
          <a:xfrm>
            <a:off x="4636008" y="2029968"/>
            <a:ext cx="23774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Newsletter sponsorship</a:t>
            </a:r>
            <a:endParaRPr lang="en-US" sz="1050" dirty="0"/>
          </a:p>
        </p:txBody>
      </p:sp>
      <p:sp>
        <p:nvSpPr>
          <p:cNvPr id="25" name="Text 23"/>
          <p:cNvSpPr txBox="1"/>
          <p:nvPr/>
        </p:nvSpPr>
        <p:spPr>
          <a:xfrm>
            <a:off x="4636008" y="2249424"/>
            <a:ext cx="2286000" cy="329184"/>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Named sponsor of The Monday Check-Up</a:t>
            </a:r>
            <a:endParaRPr lang="en-US" sz="950" dirty="0"/>
          </a:p>
        </p:txBody>
      </p:sp>
      <p:sp>
        <p:nvSpPr>
          <p:cNvPr id="26" name="Text 24"/>
          <p:cNvSpPr txBox="1"/>
          <p:nvPr/>
        </p:nvSpPr>
        <p:spPr>
          <a:xfrm>
            <a:off x="7178040" y="2066544"/>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£600</a:t>
            </a:r>
            <a:endParaRPr lang="en-US" sz="1200" dirty="0"/>
          </a:p>
        </p:txBody>
      </p:sp>
      <p:sp>
        <p:nvSpPr>
          <p:cNvPr id="27" name="Text 25"/>
          <p:cNvSpPr txBox="1"/>
          <p:nvPr/>
        </p:nvSpPr>
        <p:spPr>
          <a:xfrm>
            <a:off x="8138160" y="2066544"/>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£1,350</a:t>
            </a:r>
            <a:endParaRPr lang="en-US" sz="1200" dirty="0"/>
          </a:p>
        </p:txBody>
      </p:sp>
      <p:sp>
        <p:nvSpPr>
          <p:cNvPr id="28" name="Text 26"/>
          <p:cNvSpPr txBox="1"/>
          <p:nvPr/>
        </p:nvSpPr>
        <p:spPr>
          <a:xfrm>
            <a:off x="9098280" y="2066544"/>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£1,800</a:t>
            </a:r>
            <a:endParaRPr lang="en-US" sz="1200" dirty="0"/>
          </a:p>
        </p:txBody>
      </p:sp>
      <p:sp>
        <p:nvSpPr>
          <p:cNvPr id="29" name="Shape 27"/>
          <p:cNvSpPr/>
          <p:nvPr/>
        </p:nvSpPr>
        <p:spPr>
          <a:xfrm>
            <a:off x="4434840" y="2642616"/>
            <a:ext cx="5687568" cy="0"/>
          </a:xfrm>
          <a:prstGeom prst="line">
            <a:avLst/>
          </a:prstGeom>
          <a:noFill/>
          <a:ln w="9525">
            <a:solidFill>
              <a:srgbClr val="D8E4E4"/>
            </a:solidFill>
            <a:prstDash val="solid"/>
          </a:ln>
        </p:spPr>
      </p:sp>
      <p:sp>
        <p:nvSpPr>
          <p:cNvPr id="30" name="Shape 28"/>
          <p:cNvSpPr/>
          <p:nvPr/>
        </p:nvSpPr>
        <p:spPr>
          <a:xfrm>
            <a:off x="4434840" y="2670048"/>
            <a:ext cx="5687568" cy="310896"/>
          </a:xfrm>
          <a:prstGeom prst="rect">
            <a:avLst/>
          </a:prstGeom>
          <a:solidFill>
            <a:srgbClr val="F1F6F6"/>
          </a:solidFill>
          <a:ln w="12700">
            <a:solidFill>
              <a:srgbClr val="F1F6F6"/>
            </a:solidFill>
            <a:prstDash val="solid"/>
          </a:ln>
        </p:spPr>
      </p:sp>
      <p:sp>
        <p:nvSpPr>
          <p:cNvPr id="31" name="Text 29"/>
          <p:cNvSpPr txBox="1"/>
          <p:nvPr/>
        </p:nvSpPr>
        <p:spPr>
          <a:xfrm>
            <a:off x="4636008" y="2752344"/>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CONTENT</a:t>
            </a:r>
            <a:endParaRPr lang="en-US" sz="800" dirty="0"/>
          </a:p>
        </p:txBody>
      </p:sp>
      <p:sp>
        <p:nvSpPr>
          <p:cNvPr id="32" name="Text 30"/>
          <p:cNvSpPr txBox="1"/>
          <p:nvPr/>
        </p:nvSpPr>
        <p:spPr>
          <a:xfrm>
            <a:off x="4636008" y="3090672"/>
            <a:ext cx="23774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Sponsored article</a:t>
            </a:r>
            <a:endParaRPr lang="en-US" sz="1050" dirty="0"/>
          </a:p>
        </p:txBody>
      </p:sp>
      <p:sp>
        <p:nvSpPr>
          <p:cNvPr id="33" name="Text 31"/>
          <p:cNvSpPr txBox="1"/>
          <p:nvPr/>
        </p:nvSpPr>
        <p:spPr>
          <a:xfrm>
            <a:off x="4636008" y="3310128"/>
            <a:ext cx="2286000" cy="329184"/>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On the website and in the newsletter</a:t>
            </a:r>
            <a:endParaRPr lang="en-US" sz="950" dirty="0"/>
          </a:p>
        </p:txBody>
      </p:sp>
      <p:sp>
        <p:nvSpPr>
          <p:cNvPr id="34" name="Text 32"/>
          <p:cNvSpPr txBox="1"/>
          <p:nvPr/>
        </p:nvSpPr>
        <p:spPr>
          <a:xfrm>
            <a:off x="7178040" y="3127248"/>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£200</a:t>
            </a:r>
            <a:endParaRPr lang="en-US" sz="1200" dirty="0"/>
          </a:p>
        </p:txBody>
      </p:sp>
      <p:sp>
        <p:nvSpPr>
          <p:cNvPr id="35" name="Text 33"/>
          <p:cNvSpPr txBox="1"/>
          <p:nvPr/>
        </p:nvSpPr>
        <p:spPr>
          <a:xfrm>
            <a:off x="8138160" y="3127248"/>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£450</a:t>
            </a:r>
            <a:endParaRPr lang="en-US" sz="1200" dirty="0"/>
          </a:p>
        </p:txBody>
      </p:sp>
      <p:sp>
        <p:nvSpPr>
          <p:cNvPr id="36" name="Text 34"/>
          <p:cNvSpPr txBox="1"/>
          <p:nvPr/>
        </p:nvSpPr>
        <p:spPr>
          <a:xfrm>
            <a:off x="9098280" y="3127248"/>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£600</a:t>
            </a:r>
            <a:endParaRPr lang="en-US" sz="1200" dirty="0"/>
          </a:p>
        </p:txBody>
      </p:sp>
      <p:sp>
        <p:nvSpPr>
          <p:cNvPr id="37" name="Shape 35"/>
          <p:cNvSpPr/>
          <p:nvPr/>
        </p:nvSpPr>
        <p:spPr>
          <a:xfrm>
            <a:off x="4434840" y="3703320"/>
            <a:ext cx="5687568" cy="0"/>
          </a:xfrm>
          <a:prstGeom prst="line">
            <a:avLst/>
          </a:prstGeom>
          <a:noFill/>
          <a:ln w="9525">
            <a:solidFill>
              <a:srgbClr val="D8E4E4"/>
            </a:solidFill>
            <a:prstDash val="solid"/>
          </a:ln>
        </p:spPr>
      </p:sp>
      <p:sp>
        <p:nvSpPr>
          <p:cNvPr id="38" name="Shape 36"/>
          <p:cNvSpPr/>
          <p:nvPr/>
        </p:nvSpPr>
        <p:spPr>
          <a:xfrm>
            <a:off x="4434840" y="3730752"/>
            <a:ext cx="5687568" cy="310896"/>
          </a:xfrm>
          <a:prstGeom prst="rect">
            <a:avLst/>
          </a:prstGeom>
          <a:solidFill>
            <a:srgbClr val="F1F6F6"/>
          </a:solidFill>
          <a:ln w="12700">
            <a:solidFill>
              <a:srgbClr val="F1F6F6"/>
            </a:solidFill>
            <a:prstDash val="solid"/>
          </a:ln>
        </p:spPr>
      </p:sp>
      <p:sp>
        <p:nvSpPr>
          <p:cNvPr id="39" name="Text 37"/>
          <p:cNvSpPr txBox="1"/>
          <p:nvPr/>
        </p:nvSpPr>
        <p:spPr>
          <a:xfrm>
            <a:off x="4636008" y="3813048"/>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DISPLAY</a:t>
            </a:r>
            <a:endParaRPr lang="en-US" sz="800" dirty="0"/>
          </a:p>
        </p:txBody>
      </p:sp>
      <p:sp>
        <p:nvSpPr>
          <p:cNvPr id="40" name="Text 38"/>
          <p:cNvSpPr txBox="1"/>
          <p:nvPr/>
        </p:nvSpPr>
        <p:spPr>
          <a:xfrm>
            <a:off x="4636008" y="4151376"/>
            <a:ext cx="23774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Billboard, 970×250</a:t>
            </a:r>
            <a:endParaRPr lang="en-US" sz="1050" dirty="0"/>
          </a:p>
        </p:txBody>
      </p:sp>
      <p:sp>
        <p:nvSpPr>
          <p:cNvPr id="41" name="Text 39"/>
          <p:cNvSpPr txBox="1"/>
          <p:nvPr/>
        </p:nvSpPr>
        <p:spPr>
          <a:xfrm>
            <a:off x="4636008" y="4370832"/>
            <a:ext cx="2286000" cy="164592"/>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Top of the homepage</a:t>
            </a:r>
            <a:endParaRPr lang="en-US" sz="950" dirty="0"/>
          </a:p>
        </p:txBody>
      </p:sp>
      <p:sp>
        <p:nvSpPr>
          <p:cNvPr id="42" name="Text 40"/>
          <p:cNvSpPr txBox="1"/>
          <p:nvPr/>
        </p:nvSpPr>
        <p:spPr>
          <a:xfrm>
            <a:off x="7178040" y="4187952"/>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£500</a:t>
            </a:r>
            <a:endParaRPr lang="en-US" sz="1200" dirty="0"/>
          </a:p>
        </p:txBody>
      </p:sp>
      <p:sp>
        <p:nvSpPr>
          <p:cNvPr id="43" name="Text 41"/>
          <p:cNvSpPr txBox="1"/>
          <p:nvPr/>
        </p:nvSpPr>
        <p:spPr>
          <a:xfrm>
            <a:off x="8138160" y="4187952"/>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£1,000</a:t>
            </a:r>
            <a:endParaRPr lang="en-US" sz="1200" dirty="0"/>
          </a:p>
        </p:txBody>
      </p:sp>
      <p:sp>
        <p:nvSpPr>
          <p:cNvPr id="44" name="Text 42"/>
          <p:cNvSpPr txBox="1"/>
          <p:nvPr/>
        </p:nvSpPr>
        <p:spPr>
          <a:xfrm>
            <a:off x="9098280" y="4187952"/>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£1,500</a:t>
            </a:r>
            <a:endParaRPr lang="en-US" sz="1200" dirty="0"/>
          </a:p>
        </p:txBody>
      </p:sp>
      <p:sp>
        <p:nvSpPr>
          <p:cNvPr id="45" name="Shape 43"/>
          <p:cNvSpPr/>
          <p:nvPr/>
        </p:nvSpPr>
        <p:spPr>
          <a:xfrm>
            <a:off x="4434840" y="4599432"/>
            <a:ext cx="5687568" cy="0"/>
          </a:xfrm>
          <a:prstGeom prst="line">
            <a:avLst/>
          </a:prstGeom>
          <a:noFill/>
          <a:ln w="9525">
            <a:solidFill>
              <a:srgbClr val="D8E4E4"/>
            </a:solidFill>
            <a:prstDash val="solid"/>
          </a:ln>
        </p:spPr>
      </p:sp>
      <p:sp>
        <p:nvSpPr>
          <p:cNvPr id="46" name="Text 44"/>
          <p:cNvSpPr txBox="1"/>
          <p:nvPr/>
        </p:nvSpPr>
        <p:spPr>
          <a:xfrm>
            <a:off x="4636008" y="4736592"/>
            <a:ext cx="23774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Leaderboard, 728×90</a:t>
            </a:r>
            <a:endParaRPr lang="en-US" sz="1050" dirty="0"/>
          </a:p>
        </p:txBody>
      </p:sp>
      <p:sp>
        <p:nvSpPr>
          <p:cNvPr id="47" name="Text 45"/>
          <p:cNvSpPr txBox="1"/>
          <p:nvPr/>
        </p:nvSpPr>
        <p:spPr>
          <a:xfrm>
            <a:off x="4636008" y="4956048"/>
            <a:ext cx="2286000" cy="164592"/>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Across the site</a:t>
            </a:r>
            <a:endParaRPr lang="en-US" sz="950" dirty="0"/>
          </a:p>
        </p:txBody>
      </p:sp>
      <p:sp>
        <p:nvSpPr>
          <p:cNvPr id="48" name="Text 46"/>
          <p:cNvSpPr txBox="1"/>
          <p:nvPr/>
        </p:nvSpPr>
        <p:spPr>
          <a:xfrm>
            <a:off x="7178040" y="4773168"/>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49" name="Text 47"/>
          <p:cNvSpPr txBox="1"/>
          <p:nvPr/>
        </p:nvSpPr>
        <p:spPr>
          <a:xfrm>
            <a:off x="8138160" y="4773168"/>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£800</a:t>
            </a:r>
            <a:endParaRPr lang="en-US" sz="1200" dirty="0"/>
          </a:p>
        </p:txBody>
      </p:sp>
      <p:sp>
        <p:nvSpPr>
          <p:cNvPr id="50" name="Text 48"/>
          <p:cNvSpPr txBox="1"/>
          <p:nvPr/>
        </p:nvSpPr>
        <p:spPr>
          <a:xfrm>
            <a:off x="9098280" y="4773168"/>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£1,200</a:t>
            </a:r>
            <a:endParaRPr lang="en-US" sz="1200" dirty="0"/>
          </a:p>
        </p:txBody>
      </p:sp>
      <p:sp>
        <p:nvSpPr>
          <p:cNvPr id="51" name="Shape 49"/>
          <p:cNvSpPr/>
          <p:nvPr/>
        </p:nvSpPr>
        <p:spPr>
          <a:xfrm>
            <a:off x="4434840" y="5184648"/>
            <a:ext cx="5687568" cy="0"/>
          </a:xfrm>
          <a:prstGeom prst="line">
            <a:avLst/>
          </a:prstGeom>
          <a:noFill/>
          <a:ln w="9525">
            <a:solidFill>
              <a:srgbClr val="D8E4E4"/>
            </a:solidFill>
            <a:prstDash val="solid"/>
          </a:ln>
        </p:spPr>
      </p:sp>
      <p:sp>
        <p:nvSpPr>
          <p:cNvPr id="52" name="Text 50"/>
          <p:cNvSpPr txBox="1"/>
          <p:nvPr/>
        </p:nvSpPr>
        <p:spPr>
          <a:xfrm>
            <a:off x="4636008" y="5321808"/>
            <a:ext cx="23774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MPU, 300×250</a:t>
            </a:r>
            <a:endParaRPr lang="en-US" sz="1050" dirty="0"/>
          </a:p>
        </p:txBody>
      </p:sp>
      <p:sp>
        <p:nvSpPr>
          <p:cNvPr id="53" name="Text 51"/>
          <p:cNvSpPr txBox="1"/>
          <p:nvPr/>
        </p:nvSpPr>
        <p:spPr>
          <a:xfrm>
            <a:off x="4636008" y="5541264"/>
            <a:ext cx="2286000" cy="329184"/>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Two sidebar positions, sold separately</a:t>
            </a:r>
            <a:endParaRPr lang="en-US" sz="950" dirty="0"/>
          </a:p>
        </p:txBody>
      </p:sp>
      <p:sp>
        <p:nvSpPr>
          <p:cNvPr id="54" name="Text 52"/>
          <p:cNvSpPr txBox="1"/>
          <p:nvPr/>
        </p:nvSpPr>
        <p:spPr>
          <a:xfrm>
            <a:off x="7178040" y="5358384"/>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£200</a:t>
            </a:r>
            <a:endParaRPr lang="en-US" sz="1200" dirty="0"/>
          </a:p>
        </p:txBody>
      </p:sp>
      <p:sp>
        <p:nvSpPr>
          <p:cNvPr id="55" name="Text 53"/>
          <p:cNvSpPr txBox="1"/>
          <p:nvPr/>
        </p:nvSpPr>
        <p:spPr>
          <a:xfrm>
            <a:off x="8138160" y="5358384"/>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56" name="Text 54"/>
          <p:cNvSpPr txBox="1"/>
          <p:nvPr/>
        </p:nvSpPr>
        <p:spPr>
          <a:xfrm>
            <a:off x="9098280" y="5358384"/>
            <a:ext cx="86868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£600</a:t>
            </a:r>
            <a:endParaRPr lang="en-US" sz="1200" dirty="0"/>
          </a:p>
        </p:txBody>
      </p:sp>
      <p:sp>
        <p:nvSpPr>
          <p:cNvPr id="57" name="Shape 55"/>
          <p:cNvSpPr/>
          <p:nvPr/>
        </p:nvSpPr>
        <p:spPr>
          <a:xfrm>
            <a:off x="4434840" y="5934456"/>
            <a:ext cx="5687568" cy="0"/>
          </a:xfrm>
          <a:prstGeom prst="line">
            <a:avLst/>
          </a:prstGeom>
          <a:noFill/>
          <a:ln w="9525">
            <a:solidFill>
              <a:srgbClr val="D8E4E4"/>
            </a:solidFill>
            <a:prstDash val="solid"/>
          </a:ln>
        </p:spPr>
      </p:sp>
      <p:sp>
        <p:nvSpPr>
          <p:cNvPr id="58" name="Text 56"/>
          <p:cNvSpPr txBox="1"/>
          <p:nvPr/>
        </p:nvSpPr>
        <p:spPr>
          <a:xfrm>
            <a:off x="4434840" y="6089904"/>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Display is priced per month. Email and content are priced per send or per article.</a:t>
            </a:r>
            <a:endParaRPr lang="en-US" sz="750" dirty="0"/>
          </a:p>
        </p:txBody>
      </p:sp>
      <p:sp>
        <p:nvSpPr>
          <p:cNvPr id="59" name="Text 57"/>
          <p:cNvSpPr txBox="1"/>
          <p:nvPr/>
        </p:nvSpPr>
        <p:spPr>
          <a:xfrm>
            <a:off x="4434840" y="6272784"/>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All rates exclude VAT.  ·  Invoiced on publication, payable within 30 days.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WHAT RESULTS YOU GET</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5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WHAT RESULTS YOU GET</a:t>
            </a:r>
            <a:endParaRPr lang="en-US" sz="950" dirty="0"/>
          </a:p>
        </p:txBody>
      </p:sp>
      <p:sp>
        <p:nvSpPr>
          <p:cNvPr id="6" name="Text 4"/>
          <p:cNvSpPr txBox="1"/>
          <p:nvPr/>
        </p:nvSpPr>
        <p:spPr>
          <a:xfrm>
            <a:off x="566928" y="786384"/>
            <a:ext cx="3840480" cy="10972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The numbers</a:t>
            </a:r>
            <a:endParaRPr lang="en-US" sz="3000" dirty="0"/>
          </a:p>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you get back.</a:t>
            </a:r>
            <a:endParaRPr lang="en-US" sz="3000" dirty="0"/>
          </a:p>
        </p:txBody>
      </p:sp>
      <p:sp>
        <p:nvSpPr>
          <p:cNvPr id="7" name="Text 5"/>
          <p:cNvSpPr txBox="1"/>
          <p:nvPr/>
        </p:nvSpPr>
        <p:spPr>
          <a:xfrm>
            <a:off x="566928" y="2103120"/>
            <a:ext cx="3566160" cy="118872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Within X working days of your campaign finishing you get a report on your campaign and no other. The figures come straight from the sending platform and the site analytics.</a:t>
            </a:r>
            <a:endParaRPr lang="en-US" sz="1250" dirty="0"/>
          </a:p>
        </p:txBody>
      </p:sp>
      <p:sp>
        <p:nvSpPr>
          <p:cNvPr id="8" name="Text 6"/>
          <p:cNvSpPr txBox="1"/>
          <p:nvPr/>
        </p:nvSpPr>
        <p:spPr>
          <a:xfrm>
            <a:off x="566928" y="3456432"/>
            <a:ext cx="356616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HOW WE COUNT</a:t>
            </a:r>
            <a:endParaRPr lang="en-US" sz="900" dirty="0"/>
          </a:p>
        </p:txBody>
      </p:sp>
      <p:sp>
        <p:nvSpPr>
          <p:cNvPr id="9" name="Shape 7"/>
          <p:cNvSpPr/>
          <p:nvPr/>
        </p:nvSpPr>
        <p:spPr>
          <a:xfrm>
            <a:off x="594360" y="3867912"/>
            <a:ext cx="91440" cy="91440"/>
          </a:xfrm>
          <a:prstGeom prst="rect">
            <a:avLst/>
          </a:prstGeom>
          <a:solidFill>
            <a:srgbClr val="2BB3AA"/>
          </a:solidFill>
          <a:ln w="12700">
            <a:solidFill>
              <a:srgbClr val="2BB3AA"/>
            </a:solidFill>
            <a:prstDash val="solid"/>
          </a:ln>
        </p:spPr>
      </p:sp>
      <p:sp>
        <p:nvSpPr>
          <p:cNvPr id="10" name="Text 8"/>
          <p:cNvSpPr txBox="1"/>
          <p:nvPr/>
        </p:nvSpPr>
        <p:spPr>
          <a:xfrm>
            <a:off x="859536" y="3803904"/>
            <a:ext cx="3291840" cy="475488"/>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Unique counts, never totals, so one person opening twice is one open.</a:t>
            </a:r>
            <a:endParaRPr lang="en-US" sz="1150" dirty="0"/>
          </a:p>
        </p:txBody>
      </p:sp>
      <p:sp>
        <p:nvSpPr>
          <p:cNvPr id="11" name="Shape 9"/>
          <p:cNvSpPr/>
          <p:nvPr/>
        </p:nvSpPr>
        <p:spPr>
          <a:xfrm>
            <a:off x="594360" y="4489704"/>
            <a:ext cx="91440" cy="91440"/>
          </a:xfrm>
          <a:prstGeom prst="rect">
            <a:avLst/>
          </a:prstGeom>
          <a:solidFill>
            <a:srgbClr val="2BB3AA"/>
          </a:solidFill>
          <a:ln w="12700">
            <a:solidFill>
              <a:srgbClr val="2BB3AA"/>
            </a:solidFill>
            <a:prstDash val="solid"/>
          </a:ln>
        </p:spPr>
      </p:sp>
      <p:sp>
        <p:nvSpPr>
          <p:cNvPr id="12" name="Text 10"/>
          <p:cNvSpPr txBox="1"/>
          <p:nvPr/>
        </p:nvSpPr>
        <p:spPr>
          <a:xfrm>
            <a:off x="859536" y="4425696"/>
            <a:ext cx="3291840" cy="475488"/>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Every click destination listed, so you can see what actually pulled.</a:t>
            </a:r>
            <a:endParaRPr lang="en-US" sz="1150" dirty="0"/>
          </a:p>
        </p:txBody>
      </p:sp>
      <p:sp>
        <p:nvSpPr>
          <p:cNvPr id="13" name="Shape 11"/>
          <p:cNvSpPr/>
          <p:nvPr/>
        </p:nvSpPr>
        <p:spPr>
          <a:xfrm>
            <a:off x="594360" y="5111496"/>
            <a:ext cx="91440" cy="91440"/>
          </a:xfrm>
          <a:prstGeom prst="rect">
            <a:avLst/>
          </a:prstGeom>
          <a:solidFill>
            <a:srgbClr val="2BB3AA"/>
          </a:solidFill>
          <a:ln w="12700">
            <a:solidFill>
              <a:srgbClr val="2BB3AA"/>
            </a:solidFill>
            <a:prstDash val="solid"/>
          </a:ln>
        </p:spPr>
      </p:sp>
      <p:sp>
        <p:nvSpPr>
          <p:cNvPr id="14" name="Text 12"/>
          <p:cNvSpPr txBox="1"/>
          <p:nvPr/>
        </p:nvSpPr>
        <p:spPr>
          <a:xfrm>
            <a:off x="859536" y="5047488"/>
            <a:ext cx="3291840" cy="237744"/>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No house average standing in for your result.</a:t>
            </a:r>
            <a:endParaRPr lang="en-US" sz="1150" dirty="0"/>
          </a:p>
        </p:txBody>
      </p:sp>
      <p:sp>
        <p:nvSpPr>
          <p:cNvPr id="15" name="Shape 13"/>
          <p:cNvSpPr/>
          <p:nvPr/>
        </p:nvSpPr>
        <p:spPr>
          <a:xfrm>
            <a:off x="594360" y="5495544"/>
            <a:ext cx="91440" cy="91440"/>
          </a:xfrm>
          <a:prstGeom prst="rect">
            <a:avLst/>
          </a:prstGeom>
          <a:solidFill>
            <a:srgbClr val="2BB3AA"/>
          </a:solidFill>
          <a:ln w="12700">
            <a:solidFill>
              <a:srgbClr val="2BB3AA"/>
            </a:solidFill>
            <a:prstDash val="solid"/>
          </a:ln>
        </p:spPr>
      </p:sp>
      <p:sp>
        <p:nvSpPr>
          <p:cNvPr id="16" name="Text 14"/>
          <p:cNvSpPr txBox="1"/>
          <p:nvPr/>
        </p:nvSpPr>
        <p:spPr>
          <a:xfrm>
            <a:off x="859536" y="5431536"/>
            <a:ext cx="3291840" cy="237744"/>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If it underperformed, the report says so.</a:t>
            </a:r>
            <a:endParaRPr lang="en-US" sz="1150" dirty="0"/>
          </a:p>
        </p:txBody>
      </p:sp>
      <p:sp>
        <p:nvSpPr>
          <p:cNvPr id="17" name="Shape 15"/>
          <p:cNvSpPr/>
          <p:nvPr/>
        </p:nvSpPr>
        <p:spPr>
          <a:xfrm>
            <a:off x="566928" y="5943600"/>
            <a:ext cx="3566160" cy="841248"/>
          </a:xfrm>
          <a:prstGeom prst="rect">
            <a:avLst/>
          </a:prstGeom>
          <a:solidFill>
            <a:srgbClr val="0B1F24"/>
          </a:solidFill>
          <a:ln w="12700">
            <a:solidFill>
              <a:srgbClr val="0B1F24"/>
            </a:solidFill>
            <a:prstDash val="solid"/>
          </a:ln>
        </p:spPr>
      </p:sp>
      <p:sp>
        <p:nvSpPr>
          <p:cNvPr id="18" name="Text 16"/>
          <p:cNvSpPr txBox="1"/>
          <p:nvPr/>
        </p:nvSpPr>
        <p:spPr>
          <a:xfrm>
            <a:off x="804672" y="6126480"/>
            <a:ext cx="309067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WHEN YOU GET IT</a:t>
            </a:r>
            <a:endParaRPr lang="en-US" sz="900" dirty="0"/>
          </a:p>
        </p:txBody>
      </p:sp>
      <p:sp>
        <p:nvSpPr>
          <p:cNvPr id="19" name="Text 17"/>
          <p:cNvSpPr txBox="1"/>
          <p:nvPr/>
        </p:nvSpPr>
        <p:spPr>
          <a:xfrm>
            <a:off x="804672" y="6364224"/>
            <a:ext cx="3090672" cy="219456"/>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Within X working days of the send.</a:t>
            </a:r>
            <a:endParaRPr lang="en-US" sz="1250" dirty="0"/>
          </a:p>
        </p:txBody>
      </p:sp>
      <p:sp>
        <p:nvSpPr>
          <p:cNvPr id="20" name="Shape 18"/>
          <p:cNvSpPr/>
          <p:nvPr/>
        </p:nvSpPr>
        <p:spPr>
          <a:xfrm>
            <a:off x="4434840" y="475488"/>
            <a:ext cx="5687568" cy="384048"/>
          </a:xfrm>
          <a:prstGeom prst="rect">
            <a:avLst/>
          </a:prstGeom>
          <a:solidFill>
            <a:srgbClr val="0B5E63"/>
          </a:solidFill>
          <a:ln w="12700">
            <a:solidFill>
              <a:srgbClr val="0B5E63"/>
            </a:solidFill>
            <a:prstDash val="solid"/>
          </a:ln>
        </p:spPr>
      </p:sp>
      <p:sp>
        <p:nvSpPr>
          <p:cNvPr id="21" name="Text 19"/>
          <p:cNvSpPr txBox="1"/>
          <p:nvPr/>
        </p:nvSpPr>
        <p:spPr>
          <a:xfrm>
            <a:off x="4636008" y="576072"/>
            <a:ext cx="2743200" cy="182880"/>
          </a:xfrm>
          <a:prstGeom prst="rect">
            <a:avLst/>
          </a:prstGeom>
          <a:noFill/>
          <a:ln/>
        </p:spPr>
        <p:txBody>
          <a:bodyPr wrap="square" lIns="0" tIns="0" rIns="0" bIns="0" rtlCol="0" anchor="ctr"/>
          <a:lstStyle/>
          <a:p>
            <a:pPr indent="0" marL="0">
              <a:buNone/>
            </a:pPr>
            <a:r>
              <a:rPr lang="en-US" sz="800" b="1" spc="160" kern="0" dirty="0">
                <a:solidFill>
                  <a:srgbClr val="FFFFFF"/>
                </a:solidFill>
                <a:latin typeface="Consolas" pitchFamily="34" charset="0"/>
                <a:ea typeface="Consolas" pitchFamily="34" charset="-122"/>
                <a:cs typeface="Consolas" pitchFamily="34" charset="-120"/>
              </a:rPr>
              <a:t>YOUR CAMPAIGN REPORT</a:t>
            </a:r>
            <a:endParaRPr lang="en-US" sz="800" dirty="0"/>
          </a:p>
        </p:txBody>
      </p:sp>
      <p:sp>
        <p:nvSpPr>
          <p:cNvPr id="22" name="Text 20"/>
          <p:cNvSpPr txBox="1"/>
          <p:nvPr/>
        </p:nvSpPr>
        <p:spPr>
          <a:xfrm>
            <a:off x="8476488" y="576072"/>
            <a:ext cx="1463040" cy="182880"/>
          </a:xfrm>
          <a:prstGeom prst="rect">
            <a:avLst/>
          </a:prstGeom>
          <a:noFill/>
          <a:ln/>
        </p:spPr>
        <p:txBody>
          <a:bodyPr wrap="square" lIns="0" tIns="0" rIns="0" bIns="0" rtlCol="0" anchor="ctr"/>
          <a:lstStyle/>
          <a:p>
            <a:pPr algn="r" indent="0" marL="0">
              <a:buNone/>
            </a:pPr>
            <a:r>
              <a:rPr lang="en-US" sz="800" b="1" spc="160" kern="0" dirty="0">
                <a:solidFill>
                  <a:srgbClr val="9FE3DD"/>
                </a:solidFill>
                <a:latin typeface="Consolas" pitchFamily="34" charset="0"/>
                <a:ea typeface="Consolas" pitchFamily="34" charset="-122"/>
                <a:cs typeface="Consolas" pitchFamily="34" charset="-120"/>
              </a:rPr>
              <a:t>YOURS ALONE</a:t>
            </a:r>
            <a:endParaRPr lang="en-US" sz="800" dirty="0"/>
          </a:p>
        </p:txBody>
      </p:sp>
      <p:sp>
        <p:nvSpPr>
          <p:cNvPr id="23" name="Shape 21"/>
          <p:cNvSpPr/>
          <p:nvPr/>
        </p:nvSpPr>
        <p:spPr>
          <a:xfrm>
            <a:off x="4434840" y="859536"/>
            <a:ext cx="5687568" cy="310896"/>
          </a:xfrm>
          <a:prstGeom prst="rect">
            <a:avLst/>
          </a:prstGeom>
          <a:solidFill>
            <a:srgbClr val="F1F6F6"/>
          </a:solidFill>
          <a:ln w="12700">
            <a:solidFill>
              <a:srgbClr val="F1F6F6"/>
            </a:solidFill>
            <a:prstDash val="solid"/>
          </a:ln>
        </p:spPr>
      </p:sp>
      <p:sp>
        <p:nvSpPr>
          <p:cNvPr id="24" name="Text 22"/>
          <p:cNvSpPr txBox="1"/>
          <p:nvPr/>
        </p:nvSpPr>
        <p:spPr>
          <a:xfrm>
            <a:off x="4636008" y="94183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EMAIL CAMPAIGN</a:t>
            </a:r>
            <a:endParaRPr lang="en-US" sz="800" dirty="0"/>
          </a:p>
        </p:txBody>
      </p:sp>
      <p:sp>
        <p:nvSpPr>
          <p:cNvPr id="25" name="Text 23"/>
          <p:cNvSpPr txBox="1"/>
          <p:nvPr/>
        </p:nvSpPr>
        <p:spPr>
          <a:xfrm>
            <a:off x="4636008" y="128016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Delivered</a:t>
            </a:r>
            <a:endParaRPr lang="en-US" sz="1050" dirty="0"/>
          </a:p>
        </p:txBody>
      </p:sp>
      <p:sp>
        <p:nvSpPr>
          <p:cNvPr id="26" name="Text 24"/>
          <p:cNvSpPr txBox="1"/>
          <p:nvPr/>
        </p:nvSpPr>
        <p:spPr>
          <a:xfrm>
            <a:off x="6217920" y="128930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Inboxes it actually reached</a:t>
            </a:r>
            <a:endParaRPr lang="en-US" sz="950" dirty="0"/>
          </a:p>
        </p:txBody>
      </p:sp>
      <p:sp>
        <p:nvSpPr>
          <p:cNvPr id="27" name="Text 25"/>
          <p:cNvSpPr txBox="1"/>
          <p:nvPr/>
        </p:nvSpPr>
        <p:spPr>
          <a:xfrm>
            <a:off x="8659368" y="127101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a:t>
            </a:r>
            <a:endParaRPr lang="en-US" sz="1100" dirty="0"/>
          </a:p>
        </p:txBody>
      </p:sp>
      <p:sp>
        <p:nvSpPr>
          <p:cNvPr id="28" name="Shape 26"/>
          <p:cNvSpPr/>
          <p:nvPr/>
        </p:nvSpPr>
        <p:spPr>
          <a:xfrm>
            <a:off x="4434840" y="1563624"/>
            <a:ext cx="5687568" cy="0"/>
          </a:xfrm>
          <a:prstGeom prst="line">
            <a:avLst/>
          </a:prstGeom>
          <a:noFill/>
          <a:ln w="9525">
            <a:solidFill>
              <a:srgbClr val="D8E4E4"/>
            </a:solidFill>
            <a:prstDash val="solid"/>
          </a:ln>
        </p:spPr>
      </p:sp>
      <p:sp>
        <p:nvSpPr>
          <p:cNvPr id="29" name="Text 27"/>
          <p:cNvSpPr txBox="1"/>
          <p:nvPr/>
        </p:nvSpPr>
        <p:spPr>
          <a:xfrm>
            <a:off x="4636008" y="1700784"/>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Unique opens</a:t>
            </a:r>
            <a:endParaRPr lang="en-US" sz="1050" dirty="0"/>
          </a:p>
        </p:txBody>
      </p:sp>
      <p:sp>
        <p:nvSpPr>
          <p:cNvPr id="30" name="Text 28"/>
          <p:cNvSpPr txBox="1"/>
          <p:nvPr/>
        </p:nvSpPr>
        <p:spPr>
          <a:xfrm>
            <a:off x="6217920" y="1709928"/>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People who opened, counted once</a:t>
            </a:r>
            <a:endParaRPr lang="en-US" sz="950" dirty="0"/>
          </a:p>
        </p:txBody>
      </p:sp>
      <p:sp>
        <p:nvSpPr>
          <p:cNvPr id="31" name="Text 29"/>
          <p:cNvSpPr txBox="1"/>
          <p:nvPr/>
        </p:nvSpPr>
        <p:spPr>
          <a:xfrm>
            <a:off x="8659368" y="1691640"/>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 · XX.X%</a:t>
            </a:r>
            <a:endParaRPr lang="en-US" sz="1100" dirty="0"/>
          </a:p>
        </p:txBody>
      </p:sp>
      <p:sp>
        <p:nvSpPr>
          <p:cNvPr id="32" name="Shape 30"/>
          <p:cNvSpPr/>
          <p:nvPr/>
        </p:nvSpPr>
        <p:spPr>
          <a:xfrm>
            <a:off x="4434840" y="1984248"/>
            <a:ext cx="5687568" cy="0"/>
          </a:xfrm>
          <a:prstGeom prst="line">
            <a:avLst/>
          </a:prstGeom>
          <a:noFill/>
          <a:ln w="9525">
            <a:solidFill>
              <a:srgbClr val="D8E4E4"/>
            </a:solidFill>
            <a:prstDash val="solid"/>
          </a:ln>
        </p:spPr>
      </p:sp>
      <p:sp>
        <p:nvSpPr>
          <p:cNvPr id="33" name="Text 31"/>
          <p:cNvSpPr txBox="1"/>
          <p:nvPr/>
        </p:nvSpPr>
        <p:spPr>
          <a:xfrm>
            <a:off x="4636008" y="2121408"/>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Unique clicks</a:t>
            </a:r>
            <a:endParaRPr lang="en-US" sz="1050" dirty="0"/>
          </a:p>
        </p:txBody>
      </p:sp>
      <p:sp>
        <p:nvSpPr>
          <p:cNvPr id="34" name="Text 32"/>
          <p:cNvSpPr txBox="1"/>
          <p:nvPr/>
        </p:nvSpPr>
        <p:spPr>
          <a:xfrm>
            <a:off x="6217920" y="2130552"/>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People who clicked, counted once</a:t>
            </a:r>
            <a:endParaRPr lang="en-US" sz="950" dirty="0"/>
          </a:p>
        </p:txBody>
      </p:sp>
      <p:sp>
        <p:nvSpPr>
          <p:cNvPr id="35" name="Text 33"/>
          <p:cNvSpPr txBox="1"/>
          <p:nvPr/>
        </p:nvSpPr>
        <p:spPr>
          <a:xfrm>
            <a:off x="8659368" y="2112264"/>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 · X.X%</a:t>
            </a:r>
            <a:endParaRPr lang="en-US" sz="1100" dirty="0"/>
          </a:p>
        </p:txBody>
      </p:sp>
      <p:sp>
        <p:nvSpPr>
          <p:cNvPr id="36" name="Shape 34"/>
          <p:cNvSpPr/>
          <p:nvPr/>
        </p:nvSpPr>
        <p:spPr>
          <a:xfrm>
            <a:off x="4434840" y="2404872"/>
            <a:ext cx="5687568" cy="0"/>
          </a:xfrm>
          <a:prstGeom prst="line">
            <a:avLst/>
          </a:prstGeom>
          <a:noFill/>
          <a:ln w="9525">
            <a:solidFill>
              <a:srgbClr val="D8E4E4"/>
            </a:solidFill>
            <a:prstDash val="solid"/>
          </a:ln>
        </p:spPr>
      </p:sp>
      <p:sp>
        <p:nvSpPr>
          <p:cNvPr id="37" name="Text 35"/>
          <p:cNvSpPr txBox="1"/>
          <p:nvPr/>
        </p:nvSpPr>
        <p:spPr>
          <a:xfrm>
            <a:off x="4636008" y="2542032"/>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Click to open</a:t>
            </a:r>
            <a:endParaRPr lang="en-US" sz="1050" dirty="0"/>
          </a:p>
        </p:txBody>
      </p:sp>
      <p:sp>
        <p:nvSpPr>
          <p:cNvPr id="38" name="Text 36"/>
          <p:cNvSpPr txBox="1"/>
          <p:nvPr/>
        </p:nvSpPr>
        <p:spPr>
          <a:xfrm>
            <a:off x="6217920" y="2551176"/>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Of those who opened, who then clicked</a:t>
            </a:r>
            <a:endParaRPr lang="en-US" sz="950" dirty="0"/>
          </a:p>
        </p:txBody>
      </p:sp>
      <p:sp>
        <p:nvSpPr>
          <p:cNvPr id="39" name="Text 37"/>
          <p:cNvSpPr txBox="1"/>
          <p:nvPr/>
        </p:nvSpPr>
        <p:spPr>
          <a:xfrm>
            <a:off x="8659368" y="2532888"/>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a:t>
            </a:r>
            <a:endParaRPr lang="en-US" sz="1100" dirty="0"/>
          </a:p>
        </p:txBody>
      </p:sp>
      <p:sp>
        <p:nvSpPr>
          <p:cNvPr id="40" name="Shape 38"/>
          <p:cNvSpPr/>
          <p:nvPr/>
        </p:nvSpPr>
        <p:spPr>
          <a:xfrm>
            <a:off x="4434840" y="2825496"/>
            <a:ext cx="5687568" cy="0"/>
          </a:xfrm>
          <a:prstGeom prst="line">
            <a:avLst/>
          </a:prstGeom>
          <a:noFill/>
          <a:ln w="9525">
            <a:solidFill>
              <a:srgbClr val="D8E4E4"/>
            </a:solidFill>
            <a:prstDash val="solid"/>
          </a:ln>
        </p:spPr>
      </p:sp>
      <p:sp>
        <p:nvSpPr>
          <p:cNvPr id="41" name="Text 39"/>
          <p:cNvSpPr txBox="1"/>
          <p:nvPr/>
        </p:nvSpPr>
        <p:spPr>
          <a:xfrm>
            <a:off x="4636008" y="2962656"/>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Unsubscribes</a:t>
            </a:r>
            <a:endParaRPr lang="en-US" sz="1050" dirty="0"/>
          </a:p>
        </p:txBody>
      </p:sp>
      <p:sp>
        <p:nvSpPr>
          <p:cNvPr id="42" name="Text 40"/>
          <p:cNvSpPr txBox="1"/>
          <p:nvPr/>
        </p:nvSpPr>
        <p:spPr>
          <a:xfrm>
            <a:off x="6217920" y="2971800"/>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Off the list after your send</a:t>
            </a:r>
            <a:endParaRPr lang="en-US" sz="950" dirty="0"/>
          </a:p>
        </p:txBody>
      </p:sp>
      <p:sp>
        <p:nvSpPr>
          <p:cNvPr id="43" name="Text 41"/>
          <p:cNvSpPr txBox="1"/>
          <p:nvPr/>
        </p:nvSpPr>
        <p:spPr>
          <a:xfrm>
            <a:off x="8659368" y="2953512"/>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 · X.XX%</a:t>
            </a:r>
            <a:endParaRPr lang="en-US" sz="1100" dirty="0"/>
          </a:p>
        </p:txBody>
      </p:sp>
      <p:sp>
        <p:nvSpPr>
          <p:cNvPr id="44" name="Shape 42"/>
          <p:cNvSpPr/>
          <p:nvPr/>
        </p:nvSpPr>
        <p:spPr>
          <a:xfrm>
            <a:off x="4434840" y="3246120"/>
            <a:ext cx="5687568" cy="0"/>
          </a:xfrm>
          <a:prstGeom prst="line">
            <a:avLst/>
          </a:prstGeom>
          <a:noFill/>
          <a:ln w="9525">
            <a:solidFill>
              <a:srgbClr val="D8E4E4"/>
            </a:solidFill>
            <a:prstDash val="solid"/>
          </a:ln>
        </p:spPr>
      </p:sp>
      <p:sp>
        <p:nvSpPr>
          <p:cNvPr id="45" name="Text 43"/>
          <p:cNvSpPr txBox="1"/>
          <p:nvPr/>
        </p:nvSpPr>
        <p:spPr>
          <a:xfrm>
            <a:off x="4636008" y="338328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Hard bounces</a:t>
            </a:r>
            <a:endParaRPr lang="en-US" sz="1050" dirty="0"/>
          </a:p>
        </p:txBody>
      </p:sp>
      <p:sp>
        <p:nvSpPr>
          <p:cNvPr id="46" name="Text 44"/>
          <p:cNvSpPr txBox="1"/>
          <p:nvPr/>
        </p:nvSpPr>
        <p:spPr>
          <a:xfrm>
            <a:off x="6217920" y="339242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Addresses that no longer exist</a:t>
            </a:r>
            <a:endParaRPr lang="en-US" sz="950" dirty="0"/>
          </a:p>
        </p:txBody>
      </p:sp>
      <p:sp>
        <p:nvSpPr>
          <p:cNvPr id="47" name="Text 45"/>
          <p:cNvSpPr txBox="1"/>
          <p:nvPr/>
        </p:nvSpPr>
        <p:spPr>
          <a:xfrm>
            <a:off x="8659368" y="337413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 · X.XX%</a:t>
            </a:r>
            <a:endParaRPr lang="en-US" sz="1100" dirty="0"/>
          </a:p>
        </p:txBody>
      </p:sp>
      <p:sp>
        <p:nvSpPr>
          <p:cNvPr id="48" name="Shape 46"/>
          <p:cNvSpPr/>
          <p:nvPr/>
        </p:nvSpPr>
        <p:spPr>
          <a:xfrm>
            <a:off x="4434840" y="3666744"/>
            <a:ext cx="5687568" cy="0"/>
          </a:xfrm>
          <a:prstGeom prst="line">
            <a:avLst/>
          </a:prstGeom>
          <a:noFill/>
          <a:ln w="9525">
            <a:solidFill>
              <a:srgbClr val="D8E4E4"/>
            </a:solidFill>
            <a:prstDash val="solid"/>
          </a:ln>
        </p:spPr>
      </p:sp>
      <p:sp>
        <p:nvSpPr>
          <p:cNvPr id="49" name="Shape 47"/>
          <p:cNvSpPr/>
          <p:nvPr/>
        </p:nvSpPr>
        <p:spPr>
          <a:xfrm>
            <a:off x="4434840" y="3694176"/>
            <a:ext cx="5687568" cy="310896"/>
          </a:xfrm>
          <a:prstGeom prst="rect">
            <a:avLst/>
          </a:prstGeom>
          <a:solidFill>
            <a:srgbClr val="F1F6F6"/>
          </a:solidFill>
          <a:ln w="12700">
            <a:solidFill>
              <a:srgbClr val="F1F6F6"/>
            </a:solidFill>
            <a:prstDash val="solid"/>
          </a:ln>
        </p:spPr>
      </p:sp>
      <p:sp>
        <p:nvSpPr>
          <p:cNvPr id="50" name="Text 48"/>
          <p:cNvSpPr txBox="1"/>
          <p:nvPr/>
        </p:nvSpPr>
        <p:spPr>
          <a:xfrm>
            <a:off x="4636008" y="377647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ON THE SITE</a:t>
            </a:r>
            <a:endParaRPr lang="en-US" sz="800" dirty="0"/>
          </a:p>
        </p:txBody>
      </p:sp>
      <p:sp>
        <p:nvSpPr>
          <p:cNvPr id="51" name="Text 49"/>
          <p:cNvSpPr txBox="1"/>
          <p:nvPr/>
        </p:nvSpPr>
        <p:spPr>
          <a:xfrm>
            <a:off x="4636008" y="411480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Impressions</a:t>
            </a:r>
            <a:endParaRPr lang="en-US" sz="1050" dirty="0"/>
          </a:p>
        </p:txBody>
      </p:sp>
      <p:sp>
        <p:nvSpPr>
          <p:cNvPr id="52" name="Text 50"/>
          <p:cNvSpPr txBox="1"/>
          <p:nvPr/>
        </p:nvSpPr>
        <p:spPr>
          <a:xfrm>
            <a:off x="6217920" y="412394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Times your creative was served</a:t>
            </a:r>
            <a:endParaRPr lang="en-US" sz="950" dirty="0"/>
          </a:p>
        </p:txBody>
      </p:sp>
      <p:sp>
        <p:nvSpPr>
          <p:cNvPr id="53" name="Text 51"/>
          <p:cNvSpPr txBox="1"/>
          <p:nvPr/>
        </p:nvSpPr>
        <p:spPr>
          <a:xfrm>
            <a:off x="8659368" y="410565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XX,XXX</a:t>
            </a:r>
            <a:endParaRPr lang="en-US" sz="1100" dirty="0"/>
          </a:p>
        </p:txBody>
      </p:sp>
      <p:sp>
        <p:nvSpPr>
          <p:cNvPr id="54" name="Shape 52"/>
          <p:cNvSpPr/>
          <p:nvPr/>
        </p:nvSpPr>
        <p:spPr>
          <a:xfrm>
            <a:off x="4434840" y="4398264"/>
            <a:ext cx="5687568" cy="0"/>
          </a:xfrm>
          <a:prstGeom prst="line">
            <a:avLst/>
          </a:prstGeom>
          <a:noFill/>
          <a:ln w="9525">
            <a:solidFill>
              <a:srgbClr val="D8E4E4"/>
            </a:solidFill>
            <a:prstDash val="solid"/>
          </a:ln>
        </p:spPr>
      </p:sp>
      <p:sp>
        <p:nvSpPr>
          <p:cNvPr id="55" name="Text 53"/>
          <p:cNvSpPr txBox="1"/>
          <p:nvPr/>
        </p:nvSpPr>
        <p:spPr>
          <a:xfrm>
            <a:off x="4636008" y="4535424"/>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Clicks</a:t>
            </a:r>
            <a:endParaRPr lang="en-US" sz="1050" dirty="0"/>
          </a:p>
        </p:txBody>
      </p:sp>
      <p:sp>
        <p:nvSpPr>
          <p:cNvPr id="56" name="Text 54"/>
          <p:cNvSpPr txBox="1"/>
          <p:nvPr/>
        </p:nvSpPr>
        <p:spPr>
          <a:xfrm>
            <a:off x="6217920" y="4544568"/>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And the click-through rate</a:t>
            </a:r>
            <a:endParaRPr lang="en-US" sz="950" dirty="0"/>
          </a:p>
        </p:txBody>
      </p:sp>
      <p:sp>
        <p:nvSpPr>
          <p:cNvPr id="57" name="Text 55"/>
          <p:cNvSpPr txBox="1"/>
          <p:nvPr/>
        </p:nvSpPr>
        <p:spPr>
          <a:xfrm>
            <a:off x="8659368" y="4526280"/>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 · X.XX%</a:t>
            </a:r>
            <a:endParaRPr lang="en-US" sz="1100" dirty="0"/>
          </a:p>
        </p:txBody>
      </p:sp>
      <p:sp>
        <p:nvSpPr>
          <p:cNvPr id="58" name="Shape 56"/>
          <p:cNvSpPr/>
          <p:nvPr/>
        </p:nvSpPr>
        <p:spPr>
          <a:xfrm>
            <a:off x="4434840" y="4818888"/>
            <a:ext cx="5687568" cy="0"/>
          </a:xfrm>
          <a:prstGeom prst="line">
            <a:avLst/>
          </a:prstGeom>
          <a:noFill/>
          <a:ln w="9525">
            <a:solidFill>
              <a:srgbClr val="D8E4E4"/>
            </a:solidFill>
            <a:prstDash val="solid"/>
          </a:ln>
        </p:spPr>
      </p:sp>
      <p:sp>
        <p:nvSpPr>
          <p:cNvPr id="59" name="Text 57"/>
          <p:cNvSpPr txBox="1"/>
          <p:nvPr/>
        </p:nvSpPr>
        <p:spPr>
          <a:xfrm>
            <a:off x="4636008" y="4956048"/>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Article views</a:t>
            </a:r>
            <a:endParaRPr lang="en-US" sz="1050" dirty="0"/>
          </a:p>
        </p:txBody>
      </p:sp>
      <p:sp>
        <p:nvSpPr>
          <p:cNvPr id="60" name="Text 58"/>
          <p:cNvSpPr txBox="1"/>
          <p:nvPr/>
        </p:nvSpPr>
        <p:spPr>
          <a:xfrm>
            <a:off x="6217920" y="4965192"/>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If you bought a sponsored article</a:t>
            </a:r>
            <a:endParaRPr lang="en-US" sz="950" dirty="0"/>
          </a:p>
        </p:txBody>
      </p:sp>
      <p:sp>
        <p:nvSpPr>
          <p:cNvPr id="61" name="Text 59"/>
          <p:cNvSpPr txBox="1"/>
          <p:nvPr/>
        </p:nvSpPr>
        <p:spPr>
          <a:xfrm>
            <a:off x="8659368" y="4946904"/>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a:t>
            </a:r>
            <a:endParaRPr lang="en-US" sz="1100" dirty="0"/>
          </a:p>
        </p:txBody>
      </p:sp>
      <p:sp>
        <p:nvSpPr>
          <p:cNvPr id="62" name="Shape 60"/>
          <p:cNvSpPr/>
          <p:nvPr/>
        </p:nvSpPr>
        <p:spPr>
          <a:xfrm>
            <a:off x="4434840" y="5239512"/>
            <a:ext cx="5687568" cy="0"/>
          </a:xfrm>
          <a:prstGeom prst="line">
            <a:avLst/>
          </a:prstGeom>
          <a:noFill/>
          <a:ln w="9525">
            <a:solidFill>
              <a:srgbClr val="D8E4E4"/>
            </a:solidFill>
            <a:prstDash val="solid"/>
          </a:ln>
        </p:spPr>
      </p:sp>
      <p:sp>
        <p:nvSpPr>
          <p:cNvPr id="63" name="Text 61"/>
          <p:cNvSpPr txBox="1"/>
          <p:nvPr/>
        </p:nvSpPr>
        <p:spPr>
          <a:xfrm>
            <a:off x="4636008" y="5376672"/>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Median time on page</a:t>
            </a:r>
            <a:endParaRPr lang="en-US" sz="1050" dirty="0"/>
          </a:p>
        </p:txBody>
      </p:sp>
      <p:sp>
        <p:nvSpPr>
          <p:cNvPr id="64" name="Text 62"/>
          <p:cNvSpPr txBox="1"/>
          <p:nvPr/>
        </p:nvSpPr>
        <p:spPr>
          <a:xfrm>
            <a:off x="6217920" y="5385816"/>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How long they actually stayed</a:t>
            </a:r>
            <a:endParaRPr lang="en-US" sz="950" dirty="0"/>
          </a:p>
        </p:txBody>
      </p:sp>
      <p:sp>
        <p:nvSpPr>
          <p:cNvPr id="65" name="Text 63"/>
          <p:cNvSpPr txBox="1"/>
          <p:nvPr/>
        </p:nvSpPr>
        <p:spPr>
          <a:xfrm>
            <a:off x="8659368" y="5367528"/>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a:t>
            </a:r>
            <a:endParaRPr lang="en-US" sz="1100" dirty="0"/>
          </a:p>
        </p:txBody>
      </p:sp>
      <p:sp>
        <p:nvSpPr>
          <p:cNvPr id="66" name="Shape 64"/>
          <p:cNvSpPr/>
          <p:nvPr/>
        </p:nvSpPr>
        <p:spPr>
          <a:xfrm>
            <a:off x="4434840" y="5660136"/>
            <a:ext cx="5687568" cy="0"/>
          </a:xfrm>
          <a:prstGeom prst="line">
            <a:avLst/>
          </a:prstGeom>
          <a:noFill/>
          <a:ln w="9525">
            <a:solidFill>
              <a:srgbClr val="D8E4E4"/>
            </a:solidFill>
            <a:prstDash val="solid"/>
          </a:ln>
        </p:spPr>
      </p:sp>
      <p:sp>
        <p:nvSpPr>
          <p:cNvPr id="67" name="Text 65"/>
          <p:cNvSpPr txBox="1"/>
          <p:nvPr/>
        </p:nvSpPr>
        <p:spPr>
          <a:xfrm>
            <a:off x="4434840" y="5815584"/>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Every X is a figure filled in from your campaign. No benchmark we have not measured.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5E63"/>
        </a:solidFill>
      </p:bgPr>
    </p:bg>
    <p:spTree>
      <p:nvGrpSpPr>
        <p:cNvPr id="1" name=""/>
        <p:cNvGrpSpPr/>
        <p:nvPr/>
      </p:nvGrpSpPr>
      <p:grpSpPr>
        <a:xfrm>
          <a:off x="0" y="0"/>
          <a:ext cx="0" cy="0"/>
          <a:chOff x="0" y="0"/>
          <a:chExt cx="0" cy="0"/>
        </a:xfrm>
      </p:grpSpPr>
      <p:pic>
        <p:nvPicPr>
          <p:cNvPr id="2" name="Image 0" descr="C:/Users/CIMLTD~1/AppData/Local/Temp/claude/C--Users-CIM-Ltd--claude/ab747c79-736f-42fc-8062-1a21d89ca420/scratchpad/pack-assets/closing-photo.jpg">    </p:cNvPr>
          <p:cNvPicPr>
            <a:picLocks noChangeAspect="1"/>
          </p:cNvPicPr>
          <p:nvPr/>
        </p:nvPicPr>
        <p:blipFill>
          <a:blip r:embed="rId1"/>
          <a:srcRect l="0" r="0" t="0" b="0"/>
          <a:stretch/>
        </p:blipFill>
        <p:spPr>
          <a:xfrm>
            <a:off x="6400800" y="0"/>
            <a:ext cx="4288536" cy="7562088"/>
          </a:xfrm>
          <a:prstGeom prst="rect">
            <a:avLst/>
          </a:prstGeom>
        </p:spPr>
      </p:pic>
      <p:pic>
        <p:nvPicPr>
          <p:cNvPr id="3" name="Image 1" descr="C:/Users/CIMLTD~1/AppData/Local/Temp/claude/C--Users-CIM-Ltd--claude/ab747c79-736f-42fc-8062-1a21d89ca420/scratchpad/pack-assets/wordmark-reversed@4x.png">    </p:cNvPr>
          <p:cNvPicPr>
            <a:picLocks noChangeAspect="1"/>
          </p:cNvPicPr>
          <p:nvPr/>
        </p:nvPicPr>
        <p:blipFill>
          <a:blip r:embed="rId2"/>
          <a:stretch>
            <a:fillRect/>
          </a:stretch>
        </p:blipFill>
        <p:spPr>
          <a:xfrm>
            <a:off x="566928" y="530352"/>
            <a:ext cx="2148840" cy="882396"/>
          </a:xfrm>
          <a:prstGeom prst="rect">
            <a:avLst/>
          </a:prstGeom>
        </p:spPr>
      </p:pic>
      <p:sp>
        <p:nvSpPr>
          <p:cNvPr id="4" name="Text 0"/>
          <p:cNvSpPr txBox="1"/>
          <p:nvPr/>
        </p:nvSpPr>
        <p:spPr>
          <a:xfrm>
            <a:off x="566928" y="2286000"/>
            <a:ext cx="5029200" cy="219456"/>
          </a:xfrm>
          <a:prstGeom prst="rect">
            <a:avLst/>
          </a:prstGeom>
          <a:noFill/>
          <a:ln/>
        </p:spPr>
        <p:txBody>
          <a:bodyPr wrap="square" lIns="0" tIns="0" rIns="0" bIns="0" rtlCol="0" anchor="ctr"/>
          <a:lstStyle/>
          <a:p>
            <a:pPr indent="0" marL="0">
              <a:buNone/>
            </a:pPr>
            <a:r>
              <a:rPr lang="en-US" sz="950" b="1" spc="240" kern="0" dirty="0">
                <a:solidFill>
                  <a:srgbClr val="9FE3DD"/>
                </a:solidFill>
                <a:latin typeface="Consolas" pitchFamily="34" charset="0"/>
                <a:ea typeface="Consolas" pitchFamily="34" charset="-122"/>
                <a:cs typeface="Consolas" pitchFamily="34" charset="-120"/>
              </a:rPr>
              <a:t>ADVERTISE WITH US</a:t>
            </a:r>
            <a:endParaRPr lang="en-US" sz="950" dirty="0"/>
          </a:p>
        </p:txBody>
      </p:sp>
      <p:sp>
        <p:nvSpPr>
          <p:cNvPr id="5" name="Text 1"/>
          <p:cNvSpPr txBox="1"/>
          <p:nvPr/>
        </p:nvSpPr>
        <p:spPr>
          <a:xfrm>
            <a:off x="566928" y="2596896"/>
            <a:ext cx="50292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Get in touch.</a:t>
            </a:r>
            <a:endParaRPr lang="en-US" sz="4000" dirty="0"/>
          </a:p>
        </p:txBody>
      </p:sp>
      <p:sp>
        <p:nvSpPr>
          <p:cNvPr id="6" name="Text 2"/>
          <p:cNvSpPr txBox="1"/>
          <p:nvPr/>
        </p:nvSpPr>
        <p:spPr>
          <a:xfrm>
            <a:off x="566928" y="3493008"/>
            <a:ext cx="4023360" cy="822960"/>
          </a:xfrm>
          <a:prstGeom prst="rect">
            <a:avLst/>
          </a:prstGeom>
          <a:noFill/>
          <a:ln/>
        </p:spPr>
        <p:txBody>
          <a:bodyPr wrap="square" lIns="0" tIns="0" rIns="0" bIns="0" rtlCol="0" anchor="t"/>
          <a:lstStyle/>
          <a:p>
            <a:pPr indent="0" marL="0">
              <a:lnSpc>
                <a:spcPct val="130000"/>
              </a:lnSpc>
              <a:buNone/>
            </a:pPr>
            <a:r>
              <a:rPr lang="en-US" sz="1300" dirty="0">
                <a:solidFill>
                  <a:srgbClr val="DCEAEA"/>
                </a:solidFill>
                <a:latin typeface="Cambria" pitchFamily="34" charset="0"/>
                <a:ea typeface="Cambria" pitchFamily="34" charset="-122"/>
                <a:cs typeface="Cambria" pitchFamily="34" charset="-120"/>
              </a:rPr>
              <a:t>Tell us who you are trying to reach and what you want it to do, and we will come back with a plan, availability and a price.</a:t>
            </a:r>
            <a:endParaRPr lang="en-US" sz="1300" dirty="0"/>
          </a:p>
        </p:txBody>
      </p:sp>
      <p:sp>
        <p:nvSpPr>
          <p:cNvPr id="7" name="Text 3"/>
          <p:cNvSpPr txBox="1"/>
          <p:nvPr/>
        </p:nvSpPr>
        <p:spPr>
          <a:xfrm>
            <a:off x="566928" y="4526280"/>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ADVERTISING</a:t>
            </a:r>
            <a:endParaRPr lang="en-US" sz="800" dirty="0"/>
          </a:p>
        </p:txBody>
      </p:sp>
      <p:sp>
        <p:nvSpPr>
          <p:cNvPr id="8" name="Text 4"/>
          <p:cNvSpPr txBox="1"/>
          <p:nvPr/>
        </p:nvSpPr>
        <p:spPr>
          <a:xfrm>
            <a:off x="2487168" y="4489704"/>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jb@dentalbusinessnews.com</a:t>
            </a:r>
            <a:endParaRPr lang="en-US" sz="1250" dirty="0"/>
          </a:p>
        </p:txBody>
      </p:sp>
      <p:sp>
        <p:nvSpPr>
          <p:cNvPr id="9" name="Text 5"/>
          <p:cNvSpPr txBox="1"/>
          <p:nvPr/>
        </p:nvSpPr>
        <p:spPr>
          <a:xfrm>
            <a:off x="566928" y="5093208"/>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SEND US A STORY</a:t>
            </a:r>
            <a:endParaRPr lang="en-US" sz="800" dirty="0"/>
          </a:p>
        </p:txBody>
      </p:sp>
      <p:sp>
        <p:nvSpPr>
          <p:cNvPr id="10" name="Text 6"/>
          <p:cNvSpPr txBox="1"/>
          <p:nvPr/>
        </p:nvSpPr>
        <p:spPr>
          <a:xfrm>
            <a:off x="2487168" y="5056632"/>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dentalbusinessnews.com/submit-news</a:t>
            </a:r>
            <a:endParaRPr lang="en-US" sz="1250" dirty="0"/>
          </a:p>
        </p:txBody>
      </p:sp>
      <p:sp>
        <p:nvSpPr>
          <p:cNvPr id="11" name="Text 7"/>
          <p:cNvSpPr txBox="1"/>
          <p:nvPr/>
        </p:nvSpPr>
        <p:spPr>
          <a:xfrm>
            <a:off x="566928" y="5660136"/>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SUBSCRIBE FREE</a:t>
            </a:r>
            <a:endParaRPr lang="en-US" sz="800" dirty="0"/>
          </a:p>
        </p:txBody>
      </p:sp>
      <p:sp>
        <p:nvSpPr>
          <p:cNvPr id="12" name="Text 8"/>
          <p:cNvSpPr txBox="1"/>
          <p:nvPr/>
        </p:nvSpPr>
        <p:spPr>
          <a:xfrm>
            <a:off x="2487168" y="5623560"/>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dentalbusinessnews.com/newsletter</a:t>
            </a:r>
            <a:endParaRPr lang="en-US" sz="1250" dirty="0"/>
          </a:p>
        </p:txBody>
      </p:sp>
      <p:sp>
        <p:nvSpPr>
          <p:cNvPr id="13" name="Shape 9"/>
          <p:cNvSpPr/>
          <p:nvPr/>
        </p:nvSpPr>
        <p:spPr>
          <a:xfrm>
            <a:off x="566928" y="6473952"/>
            <a:ext cx="5394960" cy="0"/>
          </a:xfrm>
          <a:prstGeom prst="line">
            <a:avLst/>
          </a:prstGeom>
          <a:noFill/>
          <a:ln w="9525">
            <a:solidFill>
              <a:srgbClr val="3C7E82"/>
            </a:solidFill>
            <a:prstDash val="solid"/>
          </a:ln>
        </p:spPr>
      </p:sp>
      <p:sp>
        <p:nvSpPr>
          <p:cNvPr id="14" name="Text 10"/>
          <p:cNvSpPr txBox="1"/>
          <p:nvPr/>
        </p:nvSpPr>
        <p:spPr>
          <a:xfrm>
            <a:off x="566928" y="6638544"/>
            <a:ext cx="5394960" cy="201168"/>
          </a:xfrm>
          <a:prstGeom prst="rect">
            <a:avLst/>
          </a:prstGeom>
          <a:noFill/>
          <a:ln/>
        </p:spPr>
        <p:txBody>
          <a:bodyPr wrap="square" lIns="0" tIns="0" rIns="0" bIns="0" rtlCol="0" anchor="ctr"/>
          <a:lstStyle/>
          <a:p>
            <a:pPr indent="0" marL="0">
              <a:buNone/>
            </a:pPr>
            <a:r>
              <a:rPr lang="en-US" sz="750" b="1" spc="110" kern="0" dirty="0">
                <a:solidFill>
                  <a:srgbClr val="9FC4C4"/>
                </a:solidFill>
                <a:latin typeface="Consolas" pitchFamily="34" charset="0"/>
                <a:ea typeface="Consolas" pitchFamily="34" charset="-122"/>
                <a:cs typeface="Consolas" pitchFamily="34" charset="-120"/>
              </a:rPr>
              <a:t>PUBLISHED BY  ·  COGENT MULTIMEDIA LTD, 5 JUBILEE WAY, FAVERSHAM, KENT</a:t>
            </a:r>
            <a:endParaRPr lang="en-US" sz="750" dirty="0"/>
          </a:p>
        </p:txBody>
      </p:sp>
      <p:sp>
        <p:nvSpPr>
          <p:cNvPr id="15" name="Shape 11"/>
          <p:cNvSpPr/>
          <p:nvPr/>
        </p:nvSpPr>
        <p:spPr>
          <a:xfrm>
            <a:off x="6400800" y="7123176"/>
            <a:ext cx="4288536" cy="438912"/>
          </a:xfrm>
          <a:prstGeom prst="rect">
            <a:avLst/>
          </a:prstGeom>
          <a:solidFill>
            <a:srgbClr val="0B1F24">
              <a:alpha val="45000"/>
            </a:srgbClr>
          </a:solidFill>
          <a:ln w="12700">
            <a:solidFill>
              <a:srgbClr val="0B1F24"/>
            </a:solidFill>
            <a:prstDash val="solid"/>
          </a:ln>
        </p:spPr>
      </p:sp>
      <p:sp>
        <p:nvSpPr>
          <p:cNvPr id="16" name="Text 12"/>
          <p:cNvSpPr txBox="1"/>
          <p:nvPr/>
        </p:nvSpPr>
        <p:spPr>
          <a:xfrm>
            <a:off x="6492240" y="7223760"/>
            <a:ext cx="3108960" cy="182880"/>
          </a:xfrm>
          <a:prstGeom prst="rect">
            <a:avLst/>
          </a:prstGeom>
          <a:noFill/>
          <a:ln/>
        </p:spPr>
        <p:txBody>
          <a:bodyPr wrap="square" lIns="0" tIns="0" rIns="0" bIns="0" rtlCol="0" anchor="ctr"/>
          <a:lstStyle/>
          <a:p>
            <a:pPr indent="0" marL="0">
              <a:buNone/>
            </a:pPr>
            <a:r>
              <a:rPr lang="en-US" sz="700" dirty="0">
                <a:solidFill>
                  <a:srgbClr val="FFFFFF"/>
                </a:solidFill>
                <a:latin typeface="Consolas" pitchFamily="34" charset="0"/>
                <a:ea typeface="Consolas" pitchFamily="34" charset="-122"/>
                <a:cs typeface="Consolas" pitchFamily="34" charset="-120"/>
              </a:rPr>
              <a:t>Photo: Cedric Fauntleroy via Pexels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Cogent Multimedia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 Business News, advertiser pack</dc:title>
  <dc:subject>PptxGenJS Presentation</dc:subject>
  <dc:creator>Cogent Multimedia Ltd</dc:creator>
  <cp:lastModifiedBy>Cogent Multimedia Ltd</cp:lastModifiedBy>
  <cp:revision>1</cp:revision>
  <dcterms:created xsi:type="dcterms:W3CDTF">2026-10-19T15:25:20Z</dcterms:created>
  <dcterms:modified xsi:type="dcterms:W3CDTF">2026-10-19T15:25:20Z</dcterms:modified>
</cp:coreProperties>
</file>