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Mailchimp, subscribed members per audience, 2026-10-20. Rates pooled over all sends in the last 90 days. GuildProp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mailto:jb@cimltd.co.u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0"/>
            <a:ext cx="1743456" cy="1233678"/>
          </a:xfrm>
          <a:prstGeom prst="rect">
            <a:avLst/>
          </a:prstGeom>
          <a:solidFill>
            <a:srgbClr val="1B2330"/>
          </a:solidFill>
          <a:ln w="12700">
            <a:solidFill>
              <a:srgbClr val="1B233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6478" y="445544"/>
            <a:ext cx="1220419" cy="34258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70420" y="0"/>
            <a:ext cx="1743456" cy="12336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938" y="502207"/>
            <a:ext cx="1220419" cy="22926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945880" y="0"/>
            <a:ext cx="1743456" cy="12336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820" y="333093"/>
            <a:ext cx="1075577" cy="56749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394960" y="1265682"/>
            <a:ext cx="1743456" cy="12336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900" y="1507335"/>
            <a:ext cx="1075577" cy="56749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394960" y="2129691"/>
            <a:ext cx="1743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1114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INDIA</a:t>
            </a:r>
            <a:endParaRPr lang="en-US" sz="750" dirty="0"/>
          </a:p>
        </p:txBody>
      </p:sp>
      <p:sp>
        <p:nvSpPr>
          <p:cNvPr id="11" name="Shape 5"/>
          <p:cNvSpPr/>
          <p:nvPr/>
        </p:nvSpPr>
        <p:spPr>
          <a:xfrm>
            <a:off x="7170420" y="1265682"/>
            <a:ext cx="1743456" cy="12336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016" y="1598775"/>
            <a:ext cx="1172264" cy="567492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8945880" y="1265682"/>
            <a:ext cx="1743456" cy="12336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7398" y="1794912"/>
            <a:ext cx="1220419" cy="175217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5394960" y="2531364"/>
            <a:ext cx="1743456" cy="1233678"/>
          </a:xfrm>
          <a:prstGeom prst="rect">
            <a:avLst/>
          </a:prstGeom>
          <a:solidFill>
            <a:srgbClr val="2A2220"/>
          </a:solidFill>
          <a:ln w="12700">
            <a:solidFill>
              <a:srgbClr val="2A2220"/>
            </a:solidFill>
            <a:prstDash val="solid"/>
          </a:ln>
        </p:spPr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6478" y="3000881"/>
            <a:ext cx="1220419" cy="294644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7170420" y="2531364"/>
            <a:ext cx="1743456" cy="1233678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1938" y="2961217"/>
            <a:ext cx="1220419" cy="373971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8945880" y="2531364"/>
            <a:ext cx="1743456" cy="123367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7398" y="2920682"/>
            <a:ext cx="1220419" cy="455042"/>
          </a:xfrm>
          <a:prstGeom prst="rect">
            <a:avLst/>
          </a:prstGeom>
        </p:spPr>
      </p:pic>
      <p:sp>
        <p:nvSpPr>
          <p:cNvPr id="21" name="Shape 10"/>
          <p:cNvSpPr/>
          <p:nvPr/>
        </p:nvSpPr>
        <p:spPr>
          <a:xfrm>
            <a:off x="5394960" y="3797046"/>
            <a:ext cx="1743456" cy="1233678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6478" y="4174160"/>
            <a:ext cx="1220419" cy="479450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7170420" y="3797046"/>
            <a:ext cx="1743456" cy="1233678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31938" y="4275280"/>
            <a:ext cx="1220419" cy="277210"/>
          </a:xfrm>
          <a:prstGeom prst="rect">
            <a:avLst/>
          </a:prstGeom>
        </p:spPr>
      </p:pic>
      <p:sp>
        <p:nvSpPr>
          <p:cNvPr id="25" name="Shape 12"/>
          <p:cNvSpPr/>
          <p:nvPr/>
        </p:nvSpPr>
        <p:spPr>
          <a:xfrm>
            <a:off x="8945880" y="3797046"/>
            <a:ext cx="1743456" cy="1233678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7398" y="4205978"/>
            <a:ext cx="1220419" cy="415814"/>
          </a:xfrm>
          <a:prstGeom prst="rect">
            <a:avLst/>
          </a:prstGeom>
        </p:spPr>
      </p:pic>
      <p:sp>
        <p:nvSpPr>
          <p:cNvPr id="27" name="Shape 13"/>
          <p:cNvSpPr/>
          <p:nvPr/>
        </p:nvSpPr>
        <p:spPr>
          <a:xfrm>
            <a:off x="5394960" y="5062728"/>
            <a:ext cx="1743456" cy="1233678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6478" y="5440714"/>
            <a:ext cx="1220419" cy="477707"/>
          </a:xfrm>
          <a:prstGeom prst="rect">
            <a:avLst/>
          </a:prstGeom>
        </p:spPr>
      </p:pic>
      <p:sp>
        <p:nvSpPr>
          <p:cNvPr id="29" name="Shape 14"/>
          <p:cNvSpPr/>
          <p:nvPr/>
        </p:nvSpPr>
        <p:spPr>
          <a:xfrm>
            <a:off x="7170420" y="5062728"/>
            <a:ext cx="1743456" cy="1233678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</p:sp>
      <p:pic>
        <p:nvPicPr>
          <p:cNvPr id="3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31938" y="5555346"/>
            <a:ext cx="1220419" cy="248442"/>
          </a:xfrm>
          <a:prstGeom prst="rect">
            <a:avLst/>
          </a:prstGeom>
        </p:spPr>
      </p:pic>
      <p:sp>
        <p:nvSpPr>
          <p:cNvPr id="31" name="Shape 15"/>
          <p:cNvSpPr/>
          <p:nvPr/>
        </p:nvSpPr>
        <p:spPr>
          <a:xfrm>
            <a:off x="8945880" y="5062728"/>
            <a:ext cx="1743456" cy="1233678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</p:sp>
      <p:pic>
        <p:nvPicPr>
          <p:cNvPr id="3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53164" y="5395821"/>
            <a:ext cx="728889" cy="567492"/>
          </a:xfrm>
          <a:prstGeom prst="rect">
            <a:avLst/>
          </a:prstGeom>
        </p:spPr>
      </p:pic>
      <p:sp>
        <p:nvSpPr>
          <p:cNvPr id="33" name="Shape 16"/>
          <p:cNvSpPr/>
          <p:nvPr/>
        </p:nvSpPr>
        <p:spPr>
          <a:xfrm>
            <a:off x="5394960" y="6328410"/>
            <a:ext cx="1743456" cy="1233678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</p:sp>
      <p:pic>
        <p:nvPicPr>
          <p:cNvPr id="3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48976" y="6661503"/>
            <a:ext cx="835424" cy="567492"/>
          </a:xfrm>
          <a:prstGeom prst="rect">
            <a:avLst/>
          </a:prstGeom>
        </p:spPr>
      </p:pic>
      <p:sp>
        <p:nvSpPr>
          <p:cNvPr id="35" name="Shape 17"/>
          <p:cNvSpPr/>
          <p:nvPr/>
        </p:nvSpPr>
        <p:spPr>
          <a:xfrm>
            <a:off x="7170420" y="6328410"/>
            <a:ext cx="1743456" cy="1233678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</p:sp>
      <p:pic>
        <p:nvPicPr>
          <p:cNvPr id="3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51889" y="6661503"/>
            <a:ext cx="1180518" cy="567492"/>
          </a:xfrm>
          <a:prstGeom prst="rect">
            <a:avLst/>
          </a:prstGeom>
        </p:spPr>
      </p:pic>
      <p:sp>
        <p:nvSpPr>
          <p:cNvPr id="37" name="Shape 18"/>
          <p:cNvSpPr/>
          <p:nvPr/>
        </p:nvSpPr>
        <p:spPr>
          <a:xfrm>
            <a:off x="8945880" y="6328410"/>
            <a:ext cx="1743456" cy="1233678"/>
          </a:xfrm>
          <a:prstGeom prst="rect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38" name="Text 19"/>
          <p:cNvSpPr txBox="1"/>
          <p:nvPr/>
        </p:nvSpPr>
        <p:spPr>
          <a:xfrm>
            <a:off x="9147048" y="6511290"/>
            <a:ext cx="1743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3800" dirty="0"/>
          </a:p>
        </p:txBody>
      </p:sp>
      <p:sp>
        <p:nvSpPr>
          <p:cNvPr id="39" name="Text 20"/>
          <p:cNvSpPr txBox="1"/>
          <p:nvPr/>
        </p:nvSpPr>
        <p:spPr>
          <a:xfrm>
            <a:off x="9165336" y="7169658"/>
            <a:ext cx="1743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1114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TITLES</a:t>
            </a:r>
            <a:endParaRPr lang="en-US" sz="850" dirty="0"/>
          </a:p>
        </p:txBody>
      </p:sp>
      <p:sp>
        <p:nvSpPr>
          <p:cNvPr id="40" name="Text 21"/>
          <p:cNvSpPr txBox="1"/>
          <p:nvPr/>
        </p:nvSpPr>
        <p:spPr>
          <a:xfrm>
            <a:off x="566928" y="5669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</a:t>
            </a:r>
            <a:endParaRPr lang="en-US" sz="1100" dirty="0"/>
          </a:p>
        </p:txBody>
      </p:sp>
      <p:sp>
        <p:nvSpPr>
          <p:cNvPr id="41" name="Text 22"/>
          <p:cNvSpPr txBox="1"/>
          <p:nvPr/>
        </p:nvSpPr>
        <p:spPr>
          <a:xfrm>
            <a:off x="566928" y="8412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E0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ADVERTISER OVERVIEW   ·   2026 / 27</a:t>
            </a:r>
            <a:endParaRPr lang="en-US" sz="850" dirty="0"/>
          </a:p>
        </p:txBody>
      </p:sp>
      <p:sp>
        <p:nvSpPr>
          <p:cNvPr id="42" name="Text 23"/>
          <p:cNvSpPr txBox="1"/>
          <p:nvPr/>
        </p:nvSpPr>
        <p:spPr>
          <a:xfrm>
            <a:off x="566928" y="36118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Seventeen titles.
</a:t>
            </a:r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0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team.</a:t>
            </a:r>
            <a:endParaRPr lang="en-US" sz="4400" dirty="0"/>
          </a:p>
        </p:txBody>
      </p:sp>
      <p:sp>
        <p:nvSpPr>
          <p:cNvPr id="43" name="Shape 24"/>
          <p:cNvSpPr/>
          <p:nvPr/>
        </p:nvSpPr>
        <p:spPr>
          <a:xfrm>
            <a:off x="566928" y="5989320"/>
            <a:ext cx="4343400" cy="0"/>
          </a:xfrm>
          <a:prstGeom prst="line">
            <a:avLst/>
          </a:prstGeom>
          <a:noFill/>
          <a:ln w="9525">
            <a:solidFill>
              <a:srgbClr val="2C3238"/>
            </a:solidFill>
            <a:prstDash val="solid"/>
          </a:ln>
        </p:spPr>
      </p:sp>
      <p:sp>
        <p:nvSpPr>
          <p:cNvPr id="44" name="Text 25"/>
          <p:cNvSpPr txBox="1"/>
          <p:nvPr/>
        </p:nvSpPr>
        <p:spPr>
          <a:xfrm>
            <a:off x="566928" y="61447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5D8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Specialist business media for the people who run hotels, bars, care homes, salons, factories, fleets, farms and more.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  ·   AT A GLANCE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60" kern="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GROUP AT A GLANCE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audiences,</a:t>
            </a:r>
            <a:endParaRPr lang="en-US" sz="3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scale.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2331720"/>
            <a:ext cx="54864" cy="1234440"/>
          </a:xfrm>
          <a:prstGeom prst="rect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23134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183,908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880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newsletter subscribers across the group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98648" y="2331720"/>
            <a:ext cx="54864" cy="1234440"/>
          </a:xfrm>
          <a:prstGeom prst="rect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99816" y="23134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099816" y="2880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emails delivered to them in the last twelve months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931920"/>
            <a:ext cx="54864" cy="1234440"/>
          </a:xfrm>
          <a:prstGeom prst="rect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" y="39136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32.0%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4480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open rate over the last 90 days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98648" y="3931920"/>
            <a:ext cx="54864" cy="1234440"/>
          </a:xfrm>
          <a:prstGeom prst="rect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99816" y="39136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3099816" y="4480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click rate over the same sends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532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titles across 7 established monthlies and 10 launched in 2026. Readers in the UK first, with Golf Resort, Airport Business and Senior Lifestyle Business read worldwide.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32120" y="475488"/>
            <a:ext cx="4590288" cy="6144768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06440" y="694944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NEWSLETTER SUBSCRIBERS BY TITLE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10789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MEPCA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589520" y="1097280"/>
            <a:ext cx="1600200" cy="182880"/>
          </a:xfrm>
          <a:prstGeom prst="rect">
            <a:avLst/>
          </a:prstGeom>
          <a:solidFill>
            <a:srgbClr val="1B2330"/>
          </a:solidFill>
          <a:ln w="12700">
            <a:solidFill>
              <a:srgbClr val="1B233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62872" y="10881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33,546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13944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Magazine India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589520" y="1412748"/>
            <a:ext cx="1418218" cy="182880"/>
          </a:xfrm>
          <a:prstGeom prst="rect">
            <a:avLst/>
          </a:prstGeom>
          <a:solidFill>
            <a:srgbClr val="3FA9AD"/>
          </a:solidFill>
          <a:ln w="12700">
            <a:solidFill>
              <a:srgbClr val="3FA9A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80890" y="14036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29,731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5806440" y="17099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Magazine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589520" y="1728216"/>
            <a:ext cx="1294289" cy="182880"/>
          </a:xfrm>
          <a:prstGeom prst="rect">
            <a:avLst/>
          </a:prstGeom>
          <a:solidFill>
            <a:srgbClr val="8A8D91"/>
          </a:solidFill>
          <a:ln w="12700">
            <a:solidFill>
              <a:srgbClr val="8A8D9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56961" y="17190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27,133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5806440" y="202539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Magazine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589520" y="2043684"/>
            <a:ext cx="856197" cy="182880"/>
          </a:xfrm>
          <a:prstGeom prst="rect">
            <a:avLst/>
          </a:prstGeom>
          <a:solidFill>
            <a:srgbClr val="3FA9AD"/>
          </a:solidFill>
          <a:ln w="12700">
            <a:solidFill>
              <a:srgbClr val="3FA9A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18869" y="20345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17,949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806440" y="23408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Grooming Magazine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589520" y="2359152"/>
            <a:ext cx="790178" cy="182880"/>
          </a:xfrm>
          <a:prstGeom prst="rect">
            <a:avLst/>
          </a:prstGeom>
          <a:solidFill>
            <a:srgbClr val="A35A95"/>
          </a:solidFill>
          <a:ln w="12700">
            <a:solidFill>
              <a:srgbClr val="A35A9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52850" y="23500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16,565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806440" y="26563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Salon Magazine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589520" y="2674620"/>
            <a:ext cx="666917" cy="182880"/>
          </a:xfrm>
          <a:prstGeom prst="rect">
            <a:avLst/>
          </a:prstGeom>
          <a:solidFill>
            <a:srgbClr val="2A2220"/>
          </a:solidFill>
          <a:ln w="12700">
            <a:solidFill>
              <a:srgbClr val="2A222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29589" y="26654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13,981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5806440" y="29718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Home Magazine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589520" y="2990088"/>
            <a:ext cx="602615" cy="182880"/>
          </a:xfrm>
          <a:prstGeom prst="rect">
            <a:avLst/>
          </a:prstGeom>
          <a:solidFill>
            <a:srgbClr val="2A2A6E"/>
          </a:solidFill>
          <a:ln w="12700">
            <a:solidFill>
              <a:srgbClr val="2A2A6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65287" y="29809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12,633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5806440" y="32872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SME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589520" y="3305556"/>
            <a:ext cx="418105" cy="182880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80777" y="32964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8,765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5806440" y="360273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Business Magazine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589520" y="3621024"/>
            <a:ext cx="226249" cy="182880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888921" y="36118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4,743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5806440" y="39182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Golf Resort Magazine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589520" y="3936492"/>
            <a:ext cx="226106" cy="182880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888778" y="39273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4,740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5806440" y="42336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Fleet Magazine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589520" y="4251960"/>
            <a:ext cx="155460" cy="182880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818132" y="4242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3,259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5806440" y="45491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Dental Business News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589520" y="4567428"/>
            <a:ext cx="109380" cy="182880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772052" y="45582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2,293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5806440" y="48646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Farming News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589520" y="4882896"/>
            <a:ext cx="95546" cy="182880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758218" y="48737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2,003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5806440" y="518007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Lifestyle Business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589520" y="5198364"/>
            <a:ext cx="93018" cy="182880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755690" y="51892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1,950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5806440" y="54955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Business News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589520" y="5513832"/>
            <a:ext cx="86817" cy="182880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749489" y="55046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1,820</a:t>
            </a:r>
            <a:endParaRPr lang="en-US" sz="800" dirty="0"/>
          </a:p>
        </p:txBody>
      </p:sp>
      <p:sp>
        <p:nvSpPr>
          <p:cNvPr id="67" name="Text 65"/>
          <p:cNvSpPr txBox="1"/>
          <p:nvPr/>
        </p:nvSpPr>
        <p:spPr>
          <a:xfrm>
            <a:off x="5806440" y="58110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Barbering Business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589520" y="5829300"/>
            <a:ext cx="79805" cy="182880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742477" y="58201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1,673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5806440" y="6126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Nursery Daily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589520" y="6144768"/>
            <a:ext cx="53617" cy="182880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716289" y="61356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3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1,124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  ·   ESTABLISHED TITLES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60" kern="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ESTABLISHED TITLES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monthlies.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4813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Long-standing titles with loyal trade readerships, most in print as well as the inbox.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9555480" cy="329184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" y="22402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2487168" y="22402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READS IT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22402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SUBSCRIBERS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7790688" y="22402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RATE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8951976" y="22402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RATE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66928" y="2551176"/>
            <a:ext cx="1691640" cy="438912"/>
          </a:xfrm>
          <a:prstGeom prst="rect">
            <a:avLst/>
          </a:prstGeom>
          <a:solidFill>
            <a:srgbClr val="1B2330"/>
          </a:solidFill>
          <a:ln w="12700">
            <a:solidFill>
              <a:srgbClr val="1B2330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82" y="2638958"/>
            <a:ext cx="938133" cy="26334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2487168" y="256946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MEPCA</a:t>
            </a:r>
            <a:pPr indent="0" marL="0">
              <a:buNone/>
            </a:pPr>
            <a:r>
              <a:rPr lang="en-US" sz="650" b="1" spc="100" kern="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MONTHLY · PRINT AND DIGITAL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2487168" y="279806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Directors, senior managers and engineers in UK manufacturing and processing.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556248" y="26609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33,546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790688" y="26609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27.6%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951976" y="26609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3063240"/>
            <a:ext cx="9555480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" y="3136392"/>
            <a:ext cx="1691640" cy="438912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841" y="3238267"/>
            <a:ext cx="1251814" cy="23516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2487168" y="31546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Magazine</a:t>
            </a:r>
            <a:pPr indent="0" marL="0">
              <a:buNone/>
            </a:pPr>
            <a:r>
              <a:rPr lang="en-US" sz="650" b="1" spc="100" kern="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MONTHLY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2487168" y="33832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Owners, managers, purchasers and operators of UK hotels.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6556248" y="32461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27,133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7790688" y="32461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34.9%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8951976" y="32461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566928" y="3648456"/>
            <a:ext cx="9555480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66928" y="3721608"/>
            <a:ext cx="1691640" cy="438912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85" y="3809390"/>
            <a:ext cx="499126" cy="263347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2487168" y="3739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Magazine</a:t>
            </a:r>
            <a:pPr indent="0" marL="0">
              <a:buNone/>
            </a:pPr>
            <a:r>
              <a:rPr lang="en-US" sz="650" b="1" spc="100" kern="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MONTHLY · PRINT AND DIGITAL · SINCE 1999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2487168" y="39684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Owners, operators and managers of UK bars, pubs and restaurants.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6556248" y="3831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17,949</a:t>
            </a:r>
            <a:endParaRPr lang="en-US" sz="1250" dirty="0"/>
          </a:p>
        </p:txBody>
      </p:sp>
      <p:sp>
        <p:nvSpPr>
          <p:cNvPr id="35" name="Text 30"/>
          <p:cNvSpPr txBox="1"/>
          <p:nvPr/>
        </p:nvSpPr>
        <p:spPr>
          <a:xfrm>
            <a:off x="7790688" y="38313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32.9%</a:t>
            </a:r>
            <a:endParaRPr lang="en-US" sz="1250" dirty="0"/>
          </a:p>
        </p:txBody>
      </p:sp>
      <p:sp>
        <p:nvSpPr>
          <p:cNvPr id="36" name="Text 31"/>
          <p:cNvSpPr txBox="1"/>
          <p:nvPr/>
        </p:nvSpPr>
        <p:spPr>
          <a:xfrm>
            <a:off x="8951976" y="38313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566928" y="4233672"/>
            <a:ext cx="9555480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566928" y="4306824"/>
            <a:ext cx="1691640" cy="438912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054" y="4342668"/>
            <a:ext cx="349388" cy="184343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566928" y="458187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1114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INDIA</a:t>
            </a:r>
            <a:endParaRPr lang="en-US" sz="750" dirty="0"/>
          </a:p>
        </p:txBody>
      </p:sp>
      <p:sp>
        <p:nvSpPr>
          <p:cNvPr id="41" name="Text 35"/>
          <p:cNvSpPr txBox="1"/>
          <p:nvPr/>
        </p:nvSpPr>
        <p:spPr>
          <a:xfrm>
            <a:off x="2487168" y="432511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Magazine India</a:t>
            </a:r>
            <a:pPr indent="0" marL="0">
              <a:buNone/>
            </a:pPr>
            <a:r>
              <a:rPr lang="en-US" sz="650" b="1" spc="100" kern="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MONTHLY · DIGITAL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2487168" y="455371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Magazine's edition for the bar and hospitality trade in India.</a:t>
            </a:r>
            <a:endParaRPr lang="en-US" sz="900" dirty="0"/>
          </a:p>
        </p:txBody>
      </p:sp>
      <p:sp>
        <p:nvSpPr>
          <p:cNvPr id="43" name="Text 37"/>
          <p:cNvSpPr txBox="1"/>
          <p:nvPr/>
        </p:nvSpPr>
        <p:spPr>
          <a:xfrm>
            <a:off x="6556248" y="44165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29,731</a:t>
            </a:r>
            <a:endParaRPr lang="en-US" sz="1250" dirty="0"/>
          </a:p>
        </p:txBody>
      </p:sp>
      <p:sp>
        <p:nvSpPr>
          <p:cNvPr id="44" name="Text 38"/>
          <p:cNvSpPr txBox="1"/>
          <p:nvPr/>
        </p:nvSpPr>
        <p:spPr>
          <a:xfrm>
            <a:off x="7790688" y="44165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30.3%</a:t>
            </a:r>
            <a:endParaRPr lang="en-US" sz="1250" dirty="0"/>
          </a:p>
        </p:txBody>
      </p:sp>
      <p:sp>
        <p:nvSpPr>
          <p:cNvPr id="45" name="Text 39"/>
          <p:cNvSpPr txBox="1"/>
          <p:nvPr/>
        </p:nvSpPr>
        <p:spPr>
          <a:xfrm>
            <a:off x="8951976" y="44165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250" dirty="0"/>
          </a:p>
        </p:txBody>
      </p:sp>
      <p:sp>
        <p:nvSpPr>
          <p:cNvPr id="46" name="Shape 40"/>
          <p:cNvSpPr/>
          <p:nvPr/>
        </p:nvSpPr>
        <p:spPr>
          <a:xfrm>
            <a:off x="566928" y="4818888"/>
            <a:ext cx="9555480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566928" y="4892040"/>
            <a:ext cx="1691640" cy="438912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51" y="4979822"/>
            <a:ext cx="543995" cy="263347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2487168" y="49103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Home Magazine</a:t>
            </a:r>
            <a:pPr indent="0" marL="0">
              <a:buNone/>
            </a:pPr>
            <a:r>
              <a:rPr lang="en-US" sz="650" b="1" spc="100" kern="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MONTHLY</a:t>
            </a:r>
            <a:endParaRPr lang="en-US" sz="1050" dirty="0"/>
          </a:p>
        </p:txBody>
      </p:sp>
      <p:sp>
        <p:nvSpPr>
          <p:cNvPr id="50" name="Text 43"/>
          <p:cNvSpPr txBox="1"/>
          <p:nvPr/>
        </p:nvSpPr>
        <p:spPr>
          <a:xfrm>
            <a:off x="2487168" y="51389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Owners, operators, managers and senior leaders of UK care homes.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6556248" y="50017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12,633</a:t>
            </a:r>
            <a:endParaRPr lang="en-US" sz="1250" dirty="0"/>
          </a:p>
        </p:txBody>
      </p:sp>
      <p:sp>
        <p:nvSpPr>
          <p:cNvPr id="52" name="Text 45"/>
          <p:cNvSpPr txBox="1"/>
          <p:nvPr/>
        </p:nvSpPr>
        <p:spPr>
          <a:xfrm>
            <a:off x="7790688" y="5001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34.5%</a:t>
            </a:r>
            <a:endParaRPr lang="en-US" sz="1250" dirty="0"/>
          </a:p>
        </p:txBody>
      </p:sp>
      <p:sp>
        <p:nvSpPr>
          <p:cNvPr id="53" name="Text 46"/>
          <p:cNvSpPr txBox="1"/>
          <p:nvPr/>
        </p:nvSpPr>
        <p:spPr>
          <a:xfrm>
            <a:off x="8951976" y="5001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250" dirty="0"/>
          </a:p>
        </p:txBody>
      </p:sp>
      <p:sp>
        <p:nvSpPr>
          <p:cNvPr id="54" name="Shape 47"/>
          <p:cNvSpPr/>
          <p:nvPr/>
        </p:nvSpPr>
        <p:spPr>
          <a:xfrm>
            <a:off x="566928" y="5404104"/>
            <a:ext cx="9555480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566928" y="5477256"/>
            <a:ext cx="1691640" cy="438912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  <a:prstDash val="solid"/>
          </a:ln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841" y="5606850"/>
            <a:ext cx="1251814" cy="179725"/>
          </a:xfrm>
          <a:prstGeom prst="rect">
            <a:avLst/>
          </a:prstGeom>
        </p:spPr>
      </p:pic>
      <p:sp>
        <p:nvSpPr>
          <p:cNvPr id="57" name="Text 49"/>
          <p:cNvSpPr txBox="1"/>
          <p:nvPr/>
        </p:nvSpPr>
        <p:spPr>
          <a:xfrm>
            <a:off x="2487168" y="549554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Grooming Magazine</a:t>
            </a:r>
            <a:pPr indent="0" marL="0">
              <a:buNone/>
            </a:pPr>
            <a:r>
              <a:rPr lang="en-US" sz="650" b="1" spc="100" kern="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MONTHLY · PRINT AND DIGITAL</a:t>
            </a:r>
            <a:endParaRPr lang="en-US" sz="1050" dirty="0"/>
          </a:p>
        </p:txBody>
      </p:sp>
      <p:sp>
        <p:nvSpPr>
          <p:cNvPr id="58" name="Text 50"/>
          <p:cNvSpPr txBox="1"/>
          <p:nvPr/>
        </p:nvSpPr>
        <p:spPr>
          <a:xfrm>
            <a:off x="2487168" y="572414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Dog groomers, grooming salons, tack shops and grooming colleges.</a:t>
            </a:r>
            <a:endParaRPr lang="en-US" sz="900" dirty="0"/>
          </a:p>
        </p:txBody>
      </p:sp>
      <p:sp>
        <p:nvSpPr>
          <p:cNvPr id="59" name="Text 51"/>
          <p:cNvSpPr txBox="1"/>
          <p:nvPr/>
        </p:nvSpPr>
        <p:spPr>
          <a:xfrm>
            <a:off x="6556248" y="55869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16,565</a:t>
            </a:r>
            <a:endParaRPr lang="en-US" sz="1250" dirty="0"/>
          </a:p>
        </p:txBody>
      </p:sp>
      <p:sp>
        <p:nvSpPr>
          <p:cNvPr id="60" name="Text 52"/>
          <p:cNvSpPr txBox="1"/>
          <p:nvPr/>
        </p:nvSpPr>
        <p:spPr>
          <a:xfrm>
            <a:off x="7790688" y="55869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33.0%</a:t>
            </a:r>
            <a:endParaRPr lang="en-US" sz="1250" dirty="0"/>
          </a:p>
        </p:txBody>
      </p:sp>
      <p:sp>
        <p:nvSpPr>
          <p:cNvPr id="61" name="Text 53"/>
          <p:cNvSpPr txBox="1"/>
          <p:nvPr/>
        </p:nvSpPr>
        <p:spPr>
          <a:xfrm>
            <a:off x="8951976" y="55869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250" dirty="0"/>
          </a:p>
        </p:txBody>
      </p:sp>
      <p:sp>
        <p:nvSpPr>
          <p:cNvPr id="62" name="Shape 54"/>
          <p:cNvSpPr/>
          <p:nvPr/>
        </p:nvSpPr>
        <p:spPr>
          <a:xfrm>
            <a:off x="566928" y="5989320"/>
            <a:ext cx="9555480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566928" y="6062472"/>
            <a:ext cx="1691640" cy="438912"/>
          </a:xfrm>
          <a:prstGeom prst="rect">
            <a:avLst/>
          </a:prstGeom>
          <a:solidFill>
            <a:srgbClr val="2A2220"/>
          </a:solidFill>
          <a:ln w="12700">
            <a:solidFill>
              <a:srgbClr val="2A2220"/>
            </a:solidFill>
            <a:prstDash val="solid"/>
          </a:ln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354" y="6150254"/>
            <a:ext cx="1090787" cy="263347"/>
          </a:xfrm>
          <a:prstGeom prst="rect">
            <a:avLst/>
          </a:prstGeom>
        </p:spPr>
      </p:pic>
      <p:sp>
        <p:nvSpPr>
          <p:cNvPr id="65" name="Text 56"/>
          <p:cNvSpPr txBox="1"/>
          <p:nvPr/>
        </p:nvSpPr>
        <p:spPr>
          <a:xfrm>
            <a:off x="2487168" y="60807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Salon Magazine</a:t>
            </a:r>
            <a:pPr indent="0" marL="0">
              <a:buNone/>
            </a:pPr>
            <a:r>
              <a:rPr lang="en-US" sz="650" b="1" spc="100" kern="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DIGITAL</a:t>
            </a:r>
            <a:endParaRPr lang="en-US" sz="1050" dirty="0"/>
          </a:p>
        </p:txBody>
      </p:sp>
      <p:sp>
        <p:nvSpPr>
          <p:cNvPr id="66" name="Text 57"/>
          <p:cNvSpPr txBox="1"/>
          <p:nvPr/>
        </p:nvSpPr>
        <p:spPr>
          <a:xfrm>
            <a:off x="2487168" y="63093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 and managers of hair and beauty salons.</a:t>
            </a:r>
            <a:endParaRPr lang="en-US" sz="900" dirty="0"/>
          </a:p>
        </p:txBody>
      </p:sp>
      <p:sp>
        <p:nvSpPr>
          <p:cNvPr id="67" name="Text 58"/>
          <p:cNvSpPr txBox="1"/>
          <p:nvPr/>
        </p:nvSpPr>
        <p:spPr>
          <a:xfrm>
            <a:off x="6556248" y="61722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13,981</a:t>
            </a:r>
            <a:endParaRPr lang="en-US" sz="1250" dirty="0"/>
          </a:p>
        </p:txBody>
      </p:sp>
      <p:sp>
        <p:nvSpPr>
          <p:cNvPr id="68" name="Text 59"/>
          <p:cNvSpPr txBox="1"/>
          <p:nvPr/>
        </p:nvSpPr>
        <p:spPr>
          <a:xfrm>
            <a:off x="7790688" y="6172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38.4%</a:t>
            </a:r>
            <a:endParaRPr lang="en-US" sz="1250" dirty="0"/>
          </a:p>
        </p:txBody>
      </p:sp>
      <p:sp>
        <p:nvSpPr>
          <p:cNvPr id="69" name="Text 60"/>
          <p:cNvSpPr txBox="1"/>
          <p:nvPr/>
        </p:nvSpPr>
        <p:spPr>
          <a:xfrm>
            <a:off x="8951976" y="6172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250" dirty="0"/>
          </a:p>
        </p:txBody>
      </p:sp>
      <p:sp>
        <p:nvSpPr>
          <p:cNvPr id="70" name="Shape 61"/>
          <p:cNvSpPr/>
          <p:nvPr/>
        </p:nvSpPr>
        <p:spPr>
          <a:xfrm>
            <a:off x="566928" y="6574536"/>
            <a:ext cx="9555480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71" name="Text 62"/>
          <p:cNvSpPr txBox="1"/>
          <p:nvPr/>
        </p:nvSpPr>
        <p:spPr>
          <a:xfrm>
            <a:off x="566928" y="6684264"/>
            <a:ext cx="9555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 pooled across every send in the last 90 days.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  ·   LAUNCHED IN 2026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60" kern="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LAUNCHED IN 2026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titles.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4813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digital titles built this year, each for the people who own and run one industry. Young lists, opened hard.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194560"/>
            <a:ext cx="1779422" cy="960120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53" y="2472872"/>
            <a:ext cx="1316773" cy="40349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" y="3264408"/>
            <a:ext cx="1779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 and directors of UK small businesses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" y="3721608"/>
            <a:ext cx="1779422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381304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8,765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456639" y="381304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43.9%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408736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SUBSCRIBERS</a:t>
            </a:r>
            <a:endParaRPr lang="en-US" sz="650" dirty="0"/>
          </a:p>
        </p:txBody>
      </p:sp>
      <p:sp>
        <p:nvSpPr>
          <p:cNvPr id="15" name="Text 12"/>
          <p:cNvSpPr txBox="1"/>
          <p:nvPr/>
        </p:nvSpPr>
        <p:spPr>
          <a:xfrm>
            <a:off x="1456639" y="408736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RATE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2510942" y="2194560"/>
            <a:ext cx="1779422" cy="960120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267" y="2429136"/>
            <a:ext cx="1316773" cy="4909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510942" y="3264408"/>
            <a:ext cx="1779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 fleet and transport managers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510942" y="3721608"/>
            <a:ext cx="1779422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510942" y="381304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3,259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3400654" y="381304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52.0%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2510942" y="408736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SUBSCRIBERS</a:t>
            </a:r>
            <a:endParaRPr lang="en-US" sz="650" dirty="0"/>
          </a:p>
        </p:txBody>
      </p:sp>
      <p:sp>
        <p:nvSpPr>
          <p:cNvPr id="23" name="Text 19"/>
          <p:cNvSpPr txBox="1"/>
          <p:nvPr/>
        </p:nvSpPr>
        <p:spPr>
          <a:xfrm>
            <a:off x="3400654" y="408736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RATE</a:t>
            </a:r>
            <a:endParaRPr lang="en-US" sz="650" dirty="0"/>
          </a:p>
        </p:txBody>
      </p:sp>
      <p:sp>
        <p:nvSpPr>
          <p:cNvPr id="24" name="Shape 20"/>
          <p:cNvSpPr/>
          <p:nvPr/>
        </p:nvSpPr>
        <p:spPr>
          <a:xfrm>
            <a:off x="4454957" y="2194560"/>
            <a:ext cx="1779422" cy="960120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282" y="2415968"/>
            <a:ext cx="1316773" cy="51730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454957" y="3264408"/>
            <a:ext cx="1779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Airport leaders and buyers, worldwide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454957" y="3721608"/>
            <a:ext cx="1779422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454957" y="381304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4,743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5344668" y="381304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62.1%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4454957" y="408736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SUBSCRIBERS</a:t>
            </a:r>
            <a:endParaRPr lang="en-US" sz="650" dirty="0"/>
          </a:p>
        </p:txBody>
      </p:sp>
      <p:sp>
        <p:nvSpPr>
          <p:cNvPr id="31" name="Text 26"/>
          <p:cNvSpPr txBox="1"/>
          <p:nvPr/>
        </p:nvSpPr>
        <p:spPr>
          <a:xfrm>
            <a:off x="5344668" y="408736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RATE</a:t>
            </a:r>
            <a:endParaRPr lang="en-US" sz="650" dirty="0"/>
          </a:p>
        </p:txBody>
      </p:sp>
      <p:sp>
        <p:nvSpPr>
          <p:cNvPr id="32" name="Shape 27"/>
          <p:cNvSpPr/>
          <p:nvPr/>
        </p:nvSpPr>
        <p:spPr>
          <a:xfrm>
            <a:off x="6398971" y="2194560"/>
            <a:ext cx="1779422" cy="960120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296" y="2525072"/>
            <a:ext cx="1316773" cy="29909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398971" y="3264408"/>
            <a:ext cx="1779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Golf resort owners and managers, worldwide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6398971" y="3721608"/>
            <a:ext cx="1779422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398971" y="381304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4,740</a:t>
            </a:r>
            <a:endParaRPr lang="en-US" sz="1400" dirty="0"/>
          </a:p>
        </p:txBody>
      </p:sp>
      <p:sp>
        <p:nvSpPr>
          <p:cNvPr id="37" name="Text 31"/>
          <p:cNvSpPr txBox="1"/>
          <p:nvPr/>
        </p:nvSpPr>
        <p:spPr>
          <a:xfrm>
            <a:off x="7288682" y="381304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47.0%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6398971" y="408736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SUBSCRIBERS</a:t>
            </a:r>
            <a:endParaRPr lang="en-US" sz="650" dirty="0"/>
          </a:p>
        </p:txBody>
      </p:sp>
      <p:sp>
        <p:nvSpPr>
          <p:cNvPr id="39" name="Text 33"/>
          <p:cNvSpPr txBox="1"/>
          <p:nvPr/>
        </p:nvSpPr>
        <p:spPr>
          <a:xfrm>
            <a:off x="7288682" y="408736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RATE</a:t>
            </a:r>
            <a:endParaRPr lang="en-US" sz="650" dirty="0"/>
          </a:p>
        </p:txBody>
      </p:sp>
      <p:sp>
        <p:nvSpPr>
          <p:cNvPr id="40" name="Shape 34"/>
          <p:cNvSpPr/>
          <p:nvPr/>
        </p:nvSpPr>
        <p:spPr>
          <a:xfrm>
            <a:off x="8342986" y="2194560"/>
            <a:ext cx="1779422" cy="960120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311" y="2450298"/>
            <a:ext cx="1316773" cy="448643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8342986" y="3264408"/>
            <a:ext cx="1779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 barbershop owners and barbers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8342986" y="3721608"/>
            <a:ext cx="1779422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8342986" y="381304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1,673</a:t>
            </a:r>
            <a:endParaRPr lang="en-US" sz="1400" dirty="0"/>
          </a:p>
        </p:txBody>
      </p:sp>
      <p:sp>
        <p:nvSpPr>
          <p:cNvPr id="45" name="Text 38"/>
          <p:cNvSpPr txBox="1"/>
          <p:nvPr/>
        </p:nvSpPr>
        <p:spPr>
          <a:xfrm>
            <a:off x="9232697" y="381304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23.3%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8342986" y="408736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SUBSCRIBERS</a:t>
            </a:r>
            <a:endParaRPr lang="en-US" sz="650" dirty="0"/>
          </a:p>
        </p:txBody>
      </p:sp>
      <p:sp>
        <p:nvSpPr>
          <p:cNvPr id="47" name="Text 40"/>
          <p:cNvSpPr txBox="1"/>
          <p:nvPr/>
        </p:nvSpPr>
        <p:spPr>
          <a:xfrm>
            <a:off x="9232697" y="408736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RATE</a:t>
            </a:r>
            <a:endParaRPr lang="en-US" sz="650" dirty="0"/>
          </a:p>
        </p:txBody>
      </p:sp>
      <p:sp>
        <p:nvSpPr>
          <p:cNvPr id="48" name="Shape 41"/>
          <p:cNvSpPr/>
          <p:nvPr/>
        </p:nvSpPr>
        <p:spPr>
          <a:xfrm>
            <a:off x="566928" y="4572000"/>
            <a:ext cx="1779422" cy="960120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53" y="4794349"/>
            <a:ext cx="1316773" cy="515422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566928" y="5641848"/>
            <a:ext cx="1779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 dental practice owners and managers</a:t>
            </a:r>
            <a:endParaRPr lang="en-US" sz="950" dirty="0"/>
          </a:p>
        </p:txBody>
      </p:sp>
      <p:sp>
        <p:nvSpPr>
          <p:cNvPr id="51" name="Shape 43"/>
          <p:cNvSpPr/>
          <p:nvPr/>
        </p:nvSpPr>
        <p:spPr>
          <a:xfrm>
            <a:off x="566928" y="6099048"/>
            <a:ext cx="1779422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566928" y="619048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2,293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1456639" y="619048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52.9%</a:t>
            </a:r>
            <a:endParaRPr lang="en-US" sz="1400" dirty="0"/>
          </a:p>
        </p:txBody>
      </p:sp>
      <p:sp>
        <p:nvSpPr>
          <p:cNvPr id="54" name="Text 46"/>
          <p:cNvSpPr txBox="1"/>
          <p:nvPr/>
        </p:nvSpPr>
        <p:spPr>
          <a:xfrm>
            <a:off x="566928" y="646480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SUBSCRIBERS</a:t>
            </a:r>
            <a:endParaRPr lang="en-US" sz="650" dirty="0"/>
          </a:p>
        </p:txBody>
      </p:sp>
      <p:sp>
        <p:nvSpPr>
          <p:cNvPr id="55" name="Text 47"/>
          <p:cNvSpPr txBox="1"/>
          <p:nvPr/>
        </p:nvSpPr>
        <p:spPr>
          <a:xfrm>
            <a:off x="1456639" y="646480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RATE</a:t>
            </a:r>
            <a:endParaRPr lang="en-US" sz="650" dirty="0"/>
          </a:p>
        </p:txBody>
      </p:sp>
      <p:sp>
        <p:nvSpPr>
          <p:cNvPr id="56" name="Shape 48"/>
          <p:cNvSpPr/>
          <p:nvPr/>
        </p:nvSpPr>
        <p:spPr>
          <a:xfrm>
            <a:off x="2510942" y="4572000"/>
            <a:ext cx="1779422" cy="960120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2267" y="4918031"/>
            <a:ext cx="1316773" cy="268057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2510942" y="5641848"/>
            <a:ext cx="1779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Retirement community operators and investors</a:t>
            </a:r>
            <a:endParaRPr lang="en-US" sz="950" dirty="0"/>
          </a:p>
        </p:txBody>
      </p:sp>
      <p:sp>
        <p:nvSpPr>
          <p:cNvPr id="59" name="Shape 50"/>
          <p:cNvSpPr/>
          <p:nvPr/>
        </p:nvSpPr>
        <p:spPr>
          <a:xfrm>
            <a:off x="2510942" y="6099048"/>
            <a:ext cx="1779422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60" name="Text 51"/>
          <p:cNvSpPr txBox="1"/>
          <p:nvPr/>
        </p:nvSpPr>
        <p:spPr>
          <a:xfrm>
            <a:off x="2510942" y="619048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1,950</a:t>
            </a:r>
            <a:endParaRPr lang="en-US" sz="1400" dirty="0"/>
          </a:p>
        </p:txBody>
      </p:sp>
      <p:sp>
        <p:nvSpPr>
          <p:cNvPr id="61" name="Text 52"/>
          <p:cNvSpPr txBox="1"/>
          <p:nvPr/>
        </p:nvSpPr>
        <p:spPr>
          <a:xfrm>
            <a:off x="3400654" y="619048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63.5%</a:t>
            </a:r>
            <a:endParaRPr lang="en-US" sz="1400" dirty="0"/>
          </a:p>
        </p:txBody>
      </p:sp>
      <p:sp>
        <p:nvSpPr>
          <p:cNvPr id="62" name="Text 53"/>
          <p:cNvSpPr txBox="1"/>
          <p:nvPr/>
        </p:nvSpPr>
        <p:spPr>
          <a:xfrm>
            <a:off x="2510942" y="646480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SUBSCRIBERS</a:t>
            </a:r>
            <a:endParaRPr lang="en-US" sz="650" dirty="0"/>
          </a:p>
        </p:txBody>
      </p:sp>
      <p:sp>
        <p:nvSpPr>
          <p:cNvPr id="63" name="Text 54"/>
          <p:cNvSpPr txBox="1"/>
          <p:nvPr/>
        </p:nvSpPr>
        <p:spPr>
          <a:xfrm>
            <a:off x="3400654" y="646480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RATE</a:t>
            </a:r>
            <a:endParaRPr lang="en-US" sz="650" dirty="0"/>
          </a:p>
        </p:txBody>
      </p:sp>
      <p:sp>
        <p:nvSpPr>
          <p:cNvPr id="64" name="Shape 55"/>
          <p:cNvSpPr/>
          <p:nvPr/>
        </p:nvSpPr>
        <p:spPr>
          <a:xfrm>
            <a:off x="4454957" y="4572000"/>
            <a:ext cx="1779422" cy="960120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</p:sp>
      <p:pic>
        <p:nvPicPr>
          <p:cNvPr id="6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9377" y="4783226"/>
            <a:ext cx="690582" cy="537667"/>
          </a:xfrm>
          <a:prstGeom prst="rect">
            <a:avLst/>
          </a:prstGeom>
        </p:spPr>
      </p:pic>
      <p:sp>
        <p:nvSpPr>
          <p:cNvPr id="66" name="Text 56"/>
          <p:cNvSpPr txBox="1"/>
          <p:nvPr/>
        </p:nvSpPr>
        <p:spPr>
          <a:xfrm>
            <a:off x="4454957" y="5641848"/>
            <a:ext cx="1779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 farm owners and their advisers</a:t>
            </a:r>
            <a:endParaRPr lang="en-US" sz="950" dirty="0"/>
          </a:p>
        </p:txBody>
      </p:sp>
      <p:sp>
        <p:nvSpPr>
          <p:cNvPr id="67" name="Shape 57"/>
          <p:cNvSpPr/>
          <p:nvPr/>
        </p:nvSpPr>
        <p:spPr>
          <a:xfrm>
            <a:off x="4454957" y="6099048"/>
            <a:ext cx="1779422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68" name="Text 58"/>
          <p:cNvSpPr txBox="1"/>
          <p:nvPr/>
        </p:nvSpPr>
        <p:spPr>
          <a:xfrm>
            <a:off x="4454957" y="619048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2,003</a:t>
            </a:r>
            <a:endParaRPr lang="en-US" sz="1400" dirty="0"/>
          </a:p>
        </p:txBody>
      </p:sp>
      <p:sp>
        <p:nvSpPr>
          <p:cNvPr id="69" name="Text 59"/>
          <p:cNvSpPr txBox="1"/>
          <p:nvPr/>
        </p:nvSpPr>
        <p:spPr>
          <a:xfrm>
            <a:off x="5344668" y="619048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60.7%</a:t>
            </a:r>
            <a:endParaRPr lang="en-US" sz="1400" dirty="0"/>
          </a:p>
        </p:txBody>
      </p:sp>
      <p:sp>
        <p:nvSpPr>
          <p:cNvPr id="70" name="Text 60"/>
          <p:cNvSpPr txBox="1"/>
          <p:nvPr/>
        </p:nvSpPr>
        <p:spPr>
          <a:xfrm>
            <a:off x="4454957" y="646480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SUBSCRIBERS</a:t>
            </a:r>
            <a:endParaRPr lang="en-US" sz="650" dirty="0"/>
          </a:p>
        </p:txBody>
      </p:sp>
      <p:sp>
        <p:nvSpPr>
          <p:cNvPr id="71" name="Text 61"/>
          <p:cNvSpPr txBox="1"/>
          <p:nvPr/>
        </p:nvSpPr>
        <p:spPr>
          <a:xfrm>
            <a:off x="5344668" y="646480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RATE</a:t>
            </a:r>
            <a:endParaRPr lang="en-US" sz="650" dirty="0"/>
          </a:p>
        </p:txBody>
      </p:sp>
      <p:sp>
        <p:nvSpPr>
          <p:cNvPr id="72" name="Shape 62"/>
          <p:cNvSpPr/>
          <p:nvPr/>
        </p:nvSpPr>
        <p:spPr>
          <a:xfrm>
            <a:off x="6398971" y="4572000"/>
            <a:ext cx="1779422" cy="960120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</p:sp>
      <p:pic>
        <p:nvPicPr>
          <p:cNvPr id="7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2923" y="4783226"/>
            <a:ext cx="791518" cy="537667"/>
          </a:xfrm>
          <a:prstGeom prst="rect">
            <a:avLst/>
          </a:prstGeom>
        </p:spPr>
      </p:pic>
      <p:sp>
        <p:nvSpPr>
          <p:cNvPr id="74" name="Text 63"/>
          <p:cNvSpPr txBox="1"/>
          <p:nvPr/>
        </p:nvSpPr>
        <p:spPr>
          <a:xfrm>
            <a:off x="6398971" y="5641848"/>
            <a:ext cx="1779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gym and studio owners</a:t>
            </a:r>
            <a:endParaRPr lang="en-US" sz="950" dirty="0"/>
          </a:p>
        </p:txBody>
      </p:sp>
      <p:sp>
        <p:nvSpPr>
          <p:cNvPr id="75" name="Shape 64"/>
          <p:cNvSpPr/>
          <p:nvPr/>
        </p:nvSpPr>
        <p:spPr>
          <a:xfrm>
            <a:off x="6398971" y="6099048"/>
            <a:ext cx="1779422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76" name="Text 65"/>
          <p:cNvSpPr txBox="1"/>
          <p:nvPr/>
        </p:nvSpPr>
        <p:spPr>
          <a:xfrm>
            <a:off x="6398971" y="619048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1,820</a:t>
            </a:r>
            <a:endParaRPr lang="en-US" sz="1400" dirty="0"/>
          </a:p>
        </p:txBody>
      </p:sp>
      <p:sp>
        <p:nvSpPr>
          <p:cNvPr id="77" name="Text 66"/>
          <p:cNvSpPr txBox="1"/>
          <p:nvPr/>
        </p:nvSpPr>
        <p:spPr>
          <a:xfrm>
            <a:off x="7288682" y="619048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73.0%</a:t>
            </a:r>
            <a:endParaRPr lang="en-US" sz="1400" dirty="0"/>
          </a:p>
        </p:txBody>
      </p:sp>
      <p:sp>
        <p:nvSpPr>
          <p:cNvPr id="78" name="Text 67"/>
          <p:cNvSpPr txBox="1"/>
          <p:nvPr/>
        </p:nvSpPr>
        <p:spPr>
          <a:xfrm>
            <a:off x="6398971" y="646480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SUBSCRIBERS</a:t>
            </a:r>
            <a:endParaRPr lang="en-US" sz="650" dirty="0"/>
          </a:p>
        </p:txBody>
      </p:sp>
      <p:sp>
        <p:nvSpPr>
          <p:cNvPr id="79" name="Text 68"/>
          <p:cNvSpPr txBox="1"/>
          <p:nvPr/>
        </p:nvSpPr>
        <p:spPr>
          <a:xfrm>
            <a:off x="7288682" y="646480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RATE</a:t>
            </a:r>
            <a:endParaRPr lang="en-US" sz="650" dirty="0"/>
          </a:p>
        </p:txBody>
      </p:sp>
      <p:sp>
        <p:nvSpPr>
          <p:cNvPr id="80" name="Shape 69"/>
          <p:cNvSpPr/>
          <p:nvPr/>
        </p:nvSpPr>
        <p:spPr>
          <a:xfrm>
            <a:off x="8342986" y="4572000"/>
            <a:ext cx="1779422" cy="960120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</p:sp>
      <p:pic>
        <p:nvPicPr>
          <p:cNvPr id="8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3459" y="4783226"/>
            <a:ext cx="1118476" cy="537667"/>
          </a:xfrm>
          <a:prstGeom prst="rect">
            <a:avLst/>
          </a:prstGeom>
        </p:spPr>
      </p:pic>
      <p:sp>
        <p:nvSpPr>
          <p:cNvPr id="82" name="Text 70"/>
          <p:cNvSpPr txBox="1"/>
          <p:nvPr/>
        </p:nvSpPr>
        <p:spPr>
          <a:xfrm>
            <a:off x="8342986" y="5641848"/>
            <a:ext cx="1779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 nursery owners and managers</a:t>
            </a:r>
            <a:endParaRPr lang="en-US" sz="950" dirty="0"/>
          </a:p>
        </p:txBody>
      </p:sp>
      <p:sp>
        <p:nvSpPr>
          <p:cNvPr id="83" name="Shape 71"/>
          <p:cNvSpPr/>
          <p:nvPr/>
        </p:nvSpPr>
        <p:spPr>
          <a:xfrm>
            <a:off x="8342986" y="6099048"/>
            <a:ext cx="1779422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84" name="Text 72"/>
          <p:cNvSpPr txBox="1"/>
          <p:nvPr/>
        </p:nvSpPr>
        <p:spPr>
          <a:xfrm>
            <a:off x="8342986" y="619048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1,124</a:t>
            </a:r>
            <a:endParaRPr lang="en-US" sz="1400" dirty="0"/>
          </a:p>
        </p:txBody>
      </p:sp>
      <p:sp>
        <p:nvSpPr>
          <p:cNvPr id="85" name="Text 73"/>
          <p:cNvSpPr txBox="1"/>
          <p:nvPr/>
        </p:nvSpPr>
        <p:spPr>
          <a:xfrm>
            <a:off x="9232697" y="6190488"/>
            <a:ext cx="889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55.9%</a:t>
            </a:r>
            <a:endParaRPr lang="en-US" sz="1400" dirty="0"/>
          </a:p>
        </p:txBody>
      </p:sp>
      <p:sp>
        <p:nvSpPr>
          <p:cNvPr id="86" name="Text 74"/>
          <p:cNvSpPr txBox="1"/>
          <p:nvPr/>
        </p:nvSpPr>
        <p:spPr>
          <a:xfrm>
            <a:off x="8342986" y="646480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SUBSCRIBERS</a:t>
            </a:r>
            <a:endParaRPr lang="en-US" sz="650" dirty="0"/>
          </a:p>
        </p:txBody>
      </p:sp>
      <p:sp>
        <p:nvSpPr>
          <p:cNvPr id="87" name="Text 75"/>
          <p:cNvSpPr txBox="1"/>
          <p:nvPr/>
        </p:nvSpPr>
        <p:spPr>
          <a:xfrm>
            <a:off x="9232697" y="6464808"/>
            <a:ext cx="8897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RATE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3D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  ·   HOW TO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60" kern="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BUY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booking.</a:t>
            </a:r>
            <a:endParaRPr lang="en-US" sz="3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mix of titles.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4884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title sells the same four formats, so a campaign can run on one magazine or across every audience that buys what you sell. Multi-title campaigns are priced as one package.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749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FORMATS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85216" y="4133088"/>
            <a:ext cx="91440" cy="91440"/>
          </a:xfrm>
          <a:prstGeom prst="rect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4069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banners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42793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Billboard, leaderboard and MPU across the site.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5216" y="4681728"/>
            <a:ext cx="91440" cy="91440"/>
          </a:xfrm>
          <a:prstGeom prst="rect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4617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 email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8280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message to the list, nobody else in it.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5216" y="5230368"/>
            <a:ext cx="91440" cy="91440"/>
          </a:xfrm>
          <a:prstGeom prst="rect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5166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5376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sponsor of the weekly briefing.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5216" y="5779008"/>
            <a:ext cx="91440" cy="91440"/>
          </a:xfrm>
          <a:prstGeom prst="rect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5715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content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5925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story on the site and in the newsletter.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512064"/>
            <a:ext cx="5047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BY AUDIENCE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74920" y="841248"/>
            <a:ext cx="5047488" cy="13716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841248"/>
            <a:ext cx="54864" cy="1371600"/>
          </a:xfrm>
          <a:prstGeom prst="rect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30952" y="10058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 and leisure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9692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81,373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744968" y="12801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SUBSCRIBERS COMBINED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330952" y="1591056"/>
            <a:ext cx="83393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685" y="1758559"/>
            <a:ext cx="650468" cy="122195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256325" y="1591056"/>
            <a:ext cx="83393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995" y="1687068"/>
            <a:ext cx="502593" cy="265176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181698" y="1591056"/>
            <a:ext cx="83393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356" y="1636776"/>
            <a:ext cx="346616" cy="18288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181698" y="1874520"/>
            <a:ext cx="83393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1114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INDIA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8107070" y="1591056"/>
            <a:ext cx="833933" cy="457200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803" y="1745781"/>
            <a:ext cx="650468" cy="147749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9032443" y="1591056"/>
            <a:ext cx="833933" cy="457200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4222" y="1687068"/>
            <a:ext cx="390375" cy="265176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5074920" y="2350008"/>
            <a:ext cx="5047488" cy="13716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5074920" y="2350008"/>
            <a:ext cx="54864" cy="1371600"/>
          </a:xfrm>
          <a:prstGeom prst="rect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5330952" y="25146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Care, health and education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8293608" y="247802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18,000</a:t>
            </a:r>
            <a:endParaRPr lang="en-US" sz="1600" dirty="0"/>
          </a:p>
        </p:txBody>
      </p:sp>
      <p:sp>
        <p:nvSpPr>
          <p:cNvPr id="42" name="Text 35"/>
          <p:cNvSpPr txBox="1"/>
          <p:nvPr/>
        </p:nvSpPr>
        <p:spPr>
          <a:xfrm>
            <a:off x="7744968" y="2788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SUBSCRIBERS COMBINED</a:t>
            </a:r>
            <a:endParaRPr lang="en-US" sz="650" dirty="0"/>
          </a:p>
        </p:txBody>
      </p:sp>
      <p:sp>
        <p:nvSpPr>
          <p:cNvPr id="43" name="Shape 36"/>
          <p:cNvSpPr/>
          <p:nvPr/>
        </p:nvSpPr>
        <p:spPr>
          <a:xfrm>
            <a:off x="5330952" y="3099816"/>
            <a:ext cx="83393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4032" y="3195828"/>
            <a:ext cx="547772" cy="265176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6256325" y="3099816"/>
            <a:ext cx="833933" cy="457200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8057" y="3262208"/>
            <a:ext cx="650468" cy="132417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7181698" y="3099816"/>
            <a:ext cx="833933" cy="457200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3430" y="3201110"/>
            <a:ext cx="650468" cy="254612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8107070" y="3099816"/>
            <a:ext cx="833933" cy="457200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8222" y="3195828"/>
            <a:ext cx="551629" cy="265176"/>
          </a:xfrm>
          <a:prstGeom prst="rect">
            <a:avLst/>
          </a:prstGeom>
        </p:spPr>
      </p:pic>
      <p:sp>
        <p:nvSpPr>
          <p:cNvPr id="51" name="Shape 40"/>
          <p:cNvSpPr/>
          <p:nvPr/>
        </p:nvSpPr>
        <p:spPr>
          <a:xfrm>
            <a:off x="5074920" y="3858768"/>
            <a:ext cx="5047488" cy="13716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5074920" y="3858768"/>
            <a:ext cx="54864" cy="1371600"/>
          </a:xfrm>
          <a:prstGeom prst="rect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53" name="Text 42"/>
          <p:cNvSpPr txBox="1"/>
          <p:nvPr/>
        </p:nvSpPr>
        <p:spPr>
          <a:xfrm>
            <a:off x="5330952" y="40233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Hair, beauty and grooming</a:t>
            </a:r>
            <a:endParaRPr lang="en-US" sz="1300" dirty="0"/>
          </a:p>
        </p:txBody>
      </p:sp>
      <p:sp>
        <p:nvSpPr>
          <p:cNvPr id="54" name="Text 43"/>
          <p:cNvSpPr txBox="1"/>
          <p:nvPr/>
        </p:nvSpPr>
        <p:spPr>
          <a:xfrm>
            <a:off x="8293608" y="398678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32,219</a:t>
            </a:r>
            <a:endParaRPr lang="en-US" sz="1600" dirty="0"/>
          </a:p>
        </p:txBody>
      </p:sp>
      <p:sp>
        <p:nvSpPr>
          <p:cNvPr id="55" name="Text 44"/>
          <p:cNvSpPr txBox="1"/>
          <p:nvPr/>
        </p:nvSpPr>
        <p:spPr>
          <a:xfrm>
            <a:off x="7744968" y="429768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SUBSCRIBERS COMBINED</a:t>
            </a:r>
            <a:endParaRPr lang="en-US" sz="650" dirty="0"/>
          </a:p>
        </p:txBody>
      </p:sp>
      <p:sp>
        <p:nvSpPr>
          <p:cNvPr id="56" name="Shape 45"/>
          <p:cNvSpPr/>
          <p:nvPr/>
        </p:nvSpPr>
        <p:spPr>
          <a:xfrm>
            <a:off x="5330952" y="4608576"/>
            <a:ext cx="833933" cy="457200"/>
          </a:xfrm>
          <a:prstGeom prst="rect">
            <a:avLst/>
          </a:prstGeom>
          <a:solidFill>
            <a:srgbClr val="2A2220"/>
          </a:solidFill>
          <a:ln w="12700">
            <a:solidFill>
              <a:srgbClr val="2A2220"/>
            </a:solidFill>
            <a:prstDash val="solid"/>
          </a:ln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2685" y="4758655"/>
            <a:ext cx="650468" cy="157041"/>
          </a:xfrm>
          <a:prstGeom prst="rect">
            <a:avLst/>
          </a:prstGeom>
        </p:spPr>
      </p:pic>
      <p:sp>
        <p:nvSpPr>
          <p:cNvPr id="58" name="Shape 46"/>
          <p:cNvSpPr/>
          <p:nvPr/>
        </p:nvSpPr>
        <p:spPr>
          <a:xfrm>
            <a:off x="6256325" y="4608576"/>
            <a:ext cx="833933" cy="457200"/>
          </a:xfrm>
          <a:prstGeom prst="rect">
            <a:avLst/>
          </a:prstGeom>
          <a:solidFill>
            <a:srgbClr val="6E2B2B"/>
          </a:solidFill>
          <a:ln w="12700">
            <a:solidFill>
              <a:srgbClr val="6E2B2B"/>
            </a:solidFill>
            <a:prstDash val="solid"/>
          </a:ln>
        </p:spPr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8057" y="4726364"/>
            <a:ext cx="650468" cy="221624"/>
          </a:xfrm>
          <a:prstGeom prst="rect">
            <a:avLst/>
          </a:prstGeom>
        </p:spPr>
      </p:pic>
      <p:sp>
        <p:nvSpPr>
          <p:cNvPr id="60" name="Shape 47"/>
          <p:cNvSpPr/>
          <p:nvPr/>
        </p:nvSpPr>
        <p:spPr>
          <a:xfrm>
            <a:off x="7181698" y="4608576"/>
            <a:ext cx="83393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73430" y="4790482"/>
            <a:ext cx="650468" cy="93389"/>
          </a:xfrm>
          <a:prstGeom prst="rect">
            <a:avLst/>
          </a:prstGeom>
        </p:spPr>
      </p:pic>
      <p:sp>
        <p:nvSpPr>
          <p:cNvPr id="62" name="Shape 48"/>
          <p:cNvSpPr/>
          <p:nvPr/>
        </p:nvSpPr>
        <p:spPr>
          <a:xfrm>
            <a:off x="5074920" y="5367528"/>
            <a:ext cx="5047488" cy="13716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  <a:prstDash val="solid"/>
          </a:ln>
        </p:spPr>
      </p:sp>
      <p:sp>
        <p:nvSpPr>
          <p:cNvPr id="63" name="Shape 49"/>
          <p:cNvSpPr/>
          <p:nvPr/>
        </p:nvSpPr>
        <p:spPr>
          <a:xfrm>
            <a:off x="5074920" y="5367528"/>
            <a:ext cx="54864" cy="1371600"/>
          </a:xfrm>
          <a:prstGeom prst="rect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64" name="Text 50"/>
          <p:cNvSpPr txBox="1"/>
          <p:nvPr/>
        </p:nvSpPr>
        <p:spPr>
          <a:xfrm>
            <a:off x="5330952" y="55321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and business</a:t>
            </a:r>
            <a:endParaRPr lang="en-US" sz="1300" dirty="0"/>
          </a:p>
        </p:txBody>
      </p:sp>
      <p:sp>
        <p:nvSpPr>
          <p:cNvPr id="65" name="Text 51"/>
          <p:cNvSpPr txBox="1"/>
          <p:nvPr/>
        </p:nvSpPr>
        <p:spPr>
          <a:xfrm>
            <a:off x="8293608" y="549554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52,316</a:t>
            </a:r>
            <a:endParaRPr lang="en-US" sz="1600" dirty="0"/>
          </a:p>
        </p:txBody>
      </p:sp>
      <p:sp>
        <p:nvSpPr>
          <p:cNvPr id="66" name="Text 52"/>
          <p:cNvSpPr txBox="1"/>
          <p:nvPr/>
        </p:nvSpPr>
        <p:spPr>
          <a:xfrm>
            <a:off x="7744968" y="58064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spc="120" kern="0" dirty="0">
                <a:solidFill>
                  <a:srgbClr val="6B7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SUBSCRIBERS COMBINED</a:t>
            </a:r>
            <a:endParaRPr lang="en-US" sz="650" dirty="0"/>
          </a:p>
        </p:txBody>
      </p:sp>
      <p:sp>
        <p:nvSpPr>
          <p:cNvPr id="67" name="Shape 53"/>
          <p:cNvSpPr/>
          <p:nvPr/>
        </p:nvSpPr>
        <p:spPr>
          <a:xfrm>
            <a:off x="5330952" y="6117336"/>
            <a:ext cx="833933" cy="457200"/>
          </a:xfrm>
          <a:prstGeom prst="rect">
            <a:avLst/>
          </a:prstGeom>
          <a:solidFill>
            <a:srgbClr val="1B2330"/>
          </a:solidFill>
          <a:ln w="12700">
            <a:solidFill>
              <a:srgbClr val="1B2330"/>
            </a:solidFill>
            <a:prstDash val="solid"/>
          </a:ln>
        </p:spPr>
      </p:sp>
      <p:pic>
        <p:nvPicPr>
          <p:cNvPr id="6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22685" y="6254638"/>
            <a:ext cx="650468" cy="182596"/>
          </a:xfrm>
          <a:prstGeom prst="rect">
            <a:avLst/>
          </a:prstGeom>
        </p:spPr>
      </p:pic>
      <p:sp>
        <p:nvSpPr>
          <p:cNvPr id="69" name="Shape 54"/>
          <p:cNvSpPr/>
          <p:nvPr/>
        </p:nvSpPr>
        <p:spPr>
          <a:xfrm>
            <a:off x="6256325" y="6117336"/>
            <a:ext cx="833933" cy="457200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</p:sp>
      <p:pic>
        <p:nvPicPr>
          <p:cNvPr id="7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8057" y="6246275"/>
            <a:ext cx="650468" cy="199322"/>
          </a:xfrm>
          <a:prstGeom prst="rect">
            <a:avLst/>
          </a:prstGeom>
        </p:spPr>
      </p:pic>
      <p:sp>
        <p:nvSpPr>
          <p:cNvPr id="71" name="Shape 55"/>
          <p:cNvSpPr/>
          <p:nvPr/>
        </p:nvSpPr>
        <p:spPr>
          <a:xfrm>
            <a:off x="7181698" y="6117336"/>
            <a:ext cx="833933" cy="457200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73430" y="6224670"/>
            <a:ext cx="650468" cy="242531"/>
          </a:xfrm>
          <a:prstGeom prst="rect">
            <a:avLst/>
          </a:prstGeom>
        </p:spPr>
      </p:pic>
      <p:sp>
        <p:nvSpPr>
          <p:cNvPr id="73" name="Shape 56"/>
          <p:cNvSpPr/>
          <p:nvPr/>
        </p:nvSpPr>
        <p:spPr>
          <a:xfrm>
            <a:off x="8107070" y="6117336"/>
            <a:ext cx="833933" cy="457200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</p:sp>
      <p:pic>
        <p:nvPicPr>
          <p:cNvPr id="7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98803" y="6218166"/>
            <a:ext cx="650468" cy="255541"/>
          </a:xfrm>
          <a:prstGeom prst="rect">
            <a:avLst/>
          </a:prstGeom>
        </p:spPr>
      </p:pic>
      <p:sp>
        <p:nvSpPr>
          <p:cNvPr id="75" name="Shape 57"/>
          <p:cNvSpPr/>
          <p:nvPr/>
        </p:nvSpPr>
        <p:spPr>
          <a:xfrm>
            <a:off x="9032443" y="6117336"/>
            <a:ext cx="833933" cy="457200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</p:sp>
      <p:pic>
        <p:nvPicPr>
          <p:cNvPr id="7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79113" y="6213348"/>
            <a:ext cx="340593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2860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E0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 WITH US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59689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49300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5D8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who you want to reach and what you want them to do. We will come back with the titles that fit, availability and one price.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617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ADVERTISING</a:t>
            </a:r>
            <a:endParaRPr lang="en-US" sz="800" dirty="0"/>
          </a:p>
        </p:txBody>
      </p:sp>
      <p:sp>
        <p:nvSpPr>
          <p:cNvPr id="7" name="Text 5">
            <a:hlinkClick r:id="rId1" tooltip=""/>
          </p:cNvPr>
          <p:cNvSpPr txBox="1"/>
          <p:nvPr/>
        </p:nvSpPr>
        <p:spPr>
          <a:xfrm>
            <a:off x="2395728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jb@cimltd.co.uk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6473952"/>
            <a:ext cx="4480560" cy="0"/>
          </a:xfrm>
          <a:prstGeom prst="line">
            <a:avLst/>
          </a:prstGeom>
          <a:noFill/>
          <a:ln w="9525">
            <a:solidFill>
              <a:srgbClr val="2C32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66385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LTD, 5 JUBILEE WAY, FAVERSHAM, KENT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0" y="0"/>
            <a:ext cx="5020056" cy="7562088"/>
          </a:xfrm>
          <a:prstGeom prst="rect">
            <a:avLst/>
          </a:prstGeom>
          <a:solidFill>
            <a:srgbClr val="1A1E23"/>
          </a:solidFill>
          <a:ln w="12700">
            <a:solidFill>
              <a:srgbClr val="1A1E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566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E0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TITLES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960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MEPCA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97840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mepca-engineering.com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13121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Magazine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133045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thehotelmagazine.co.uk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080760" y="16642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Magazine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1682496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barmagazine.co.uk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20162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Magazine India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03454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edition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23682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Home Magazine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386584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carehomemagazine.co.uk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27203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Grooming Magazine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27386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totalgroomingmagazine.co.uk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080760" y="3072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Salon Magazine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309067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thesalonmagazine.co.uk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080760" y="34244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SME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3442716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smartsme.co.uk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080760" y="3776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Fleet Magazine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379476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thefleetmagazine.co.uk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080760" y="41285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Business Magazine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4146804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airportbusinessmagazine.com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080760" y="4480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Golf Resort Magazine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49884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golfresortmagazine.com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080760" y="48326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Barbering Business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485089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barberingbusiness.com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080760" y="51846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Dental Business News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5202936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dentalbusinessnews.com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6080760" y="55366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Lifestyle Business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555498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seniorlifestylebusiness.com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080760" y="58887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Farming News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8275320" y="5907024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smartfarmingnews.com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6080760" y="62407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Business News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625906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gymbusinessnews.com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6080760" y="6592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Nursery Daily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8275320" y="661111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9AD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nurserydaily.com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Cogent Multimedia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Cogent Multimedia, advertiser overview</dc:title>
  <dc:subject>PptxGenJS Presentation</dc:subject>
  <dc:creator>Cogent Multimedia Ltd</dc:creator>
  <cp:lastModifiedBy>Cogent Multimedia Ltd</cp:lastModifiedBy>
  <cp:revision>1</cp:revision>
  <dcterms:created xsi:type="dcterms:W3CDTF">2026-10-20T08:46:07Z</dcterms:created>
  <dcterms:modified xsi:type="dcterms:W3CDTF">2026-10-20T08:46:07Z</dcterms:modified>
</cp:coreProperties>
</file>