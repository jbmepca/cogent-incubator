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58" r:id="rId5"/>
    <p:sldId id="259" r:id="rId6"/>
    <p:sldId id="260" r:id="rId7"/>
    <p:sldId id="261" r:id="rId8"/>
  </p:sldIdLst>
  <p:sldSz cx="10688638" cy="7562850"/>
  <p:notesSz cx="7562850" cy="10688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B5E63"/>
    <a:srgbClr val="F1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93" d="100"/>
          <a:sy n="193" d="100"/>
        </p:scale>
        <p:origin x="930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522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Subscribers: Mailchimp, subscribed members on 20 Oct 2026. Open and click rates: pooled across all 16 issues sent to this list. Visits: GA4 sessions,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Delivered is the current list size. Rates pooled across 16 issues. Visits and unique visitors: GA4 sessions and total users, 2026-09-20 to 2026-10-19.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jb@dentalbusinessnews.com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2107214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2926080" y="5669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A9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ADVERTISER PACK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2926080" y="80467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b="1" kern="0" spc="240" dirty="0">
                <a:solidFill>
                  <a:srgbClr val="8487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/ 27</a:t>
            </a:r>
            <a:endParaRPr lang="en-US" sz="95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88620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the people
</a:t>
            </a:r>
            <a:r>
              <a:rPr lang="en-US" sz="4600" b="1" dirty="0">
                <a:solidFill>
                  <a:srgbClr val="A9B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buy.</a:t>
            </a:r>
            <a:endParaRPr lang="en-US" sz="4600" dirty="0"/>
          </a:p>
        </p:txBody>
      </p:sp>
      <p:sp>
        <p:nvSpPr>
          <p:cNvPr id="7" name="Shape 3"/>
          <p:cNvSpPr/>
          <p:nvPr/>
        </p:nvSpPr>
        <p:spPr>
          <a:xfrm>
            <a:off x="566928" y="6199632"/>
            <a:ext cx="5394960" cy="0"/>
          </a:xfrm>
          <a:prstGeom prst="line">
            <a:avLst/>
          </a:prstGeom>
          <a:noFill/>
          <a:ln w="9525">
            <a:solidFill>
              <a:srgbClr val="4449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4"/>
          <p:cNvSpPr txBox="1"/>
          <p:nvPr/>
        </p:nvSpPr>
        <p:spPr>
          <a:xfrm>
            <a:off x="566928" y="6364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E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people who own, run and grow UK small and mid-sized businesses.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3931920" y="63825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A3A5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SMARTSME.CO.UK</a:t>
            </a:r>
            <a:endParaRPr lang="en-US" sz="850" dirty="0"/>
          </a:p>
        </p:txBody>
      </p:sp>
      <p:sp>
        <p:nvSpPr>
          <p:cNvPr id="10" name="Text 6"/>
          <p:cNvSpPr txBox="1"/>
          <p:nvPr/>
        </p:nvSpPr>
        <p:spPr>
          <a:xfrm>
            <a:off x="3931920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8487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COGENT MULTIMEDIA LTD</a:t>
            </a:r>
            <a:endParaRPr lang="en-US" sz="850" dirty="0"/>
          </a:p>
        </p:txBody>
      </p:sp>
      <p:pic>
        <p:nvPicPr>
          <p:cNvPr id="11" name="Picture 10" descr="What do SMEs need to be aware of in 2025? - Evans Weir Chartered Accountants">
            <a:extLst>
              <a:ext uri="{FF2B5EF4-FFF2-40B4-BE49-F238E27FC236}">
                <a16:creationId xmlns:a16="http://schemas.microsoft.com/office/drawing/2014/main" id="{EF415B9E-0972-3310-3FA3-1F94C27D5B8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116" r="27123"/>
          <a:stretch>
            <a:fillRect/>
          </a:stretch>
        </p:blipFill>
        <p:spPr>
          <a:xfrm>
            <a:off x="6305266" y="0"/>
            <a:ext cx="4393214" cy="7562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SME   ·   WHO YOU REACH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YOU REACH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people you’re getting in front of.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SME goes to founders, managing directors, directors and managers of UK businesses with under 250 staff, in every sector.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3520440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THEY BUY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3858768"/>
            <a:ext cx="91440" cy="91440"/>
          </a:xfrm>
          <a:prstGeom prst="rect">
            <a:avLst/>
          </a:prstGeom>
          <a:solidFill>
            <a:srgbClr val="2E3EEE"/>
          </a:solidFill>
          <a:ln w="12700">
            <a:solidFill>
              <a:srgbClr val="2E3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 txBox="1"/>
          <p:nvPr/>
        </p:nvSpPr>
        <p:spPr>
          <a:xfrm>
            <a:off x="859536" y="37856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software, AI and IT services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4169664"/>
            <a:ext cx="91440" cy="91440"/>
          </a:xfrm>
          <a:prstGeom prst="rect">
            <a:avLst/>
          </a:prstGeom>
          <a:solidFill>
            <a:srgbClr val="2E3EEE"/>
          </a:solidFill>
          <a:ln w="12700">
            <a:solidFill>
              <a:srgbClr val="2E3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859536" y="4096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finance, lending and payments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4480560"/>
            <a:ext cx="91440" cy="91440"/>
          </a:xfrm>
          <a:prstGeom prst="rect">
            <a:avLst/>
          </a:prstGeom>
          <a:solidFill>
            <a:srgbClr val="2E3EEE"/>
          </a:solidFill>
          <a:ln w="12700">
            <a:solidFill>
              <a:srgbClr val="2E3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 txBox="1"/>
          <p:nvPr/>
        </p:nvSpPr>
        <p:spPr>
          <a:xfrm>
            <a:off x="859536" y="4407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Accountancy, tax and legal services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" y="4791456"/>
            <a:ext cx="91440" cy="91440"/>
          </a:xfrm>
          <a:prstGeom prst="rect">
            <a:avLst/>
          </a:prstGeom>
          <a:solidFill>
            <a:srgbClr val="2E3EEE"/>
          </a:solidFill>
          <a:ln w="12700">
            <a:solidFill>
              <a:srgbClr val="2E3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 txBox="1"/>
          <p:nvPr/>
        </p:nvSpPr>
        <p:spPr>
          <a:xfrm>
            <a:off x="859536" y="47183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HR, payroll and recruitment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5102352"/>
            <a:ext cx="91440" cy="91440"/>
          </a:xfrm>
          <a:prstGeom prst="rect">
            <a:avLst/>
          </a:prstGeom>
          <a:solidFill>
            <a:srgbClr val="2E3EEE"/>
          </a:solidFill>
          <a:ln w="12700">
            <a:solidFill>
              <a:srgbClr val="2E3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 txBox="1"/>
          <p:nvPr/>
        </p:nvSpPr>
        <p:spPr>
          <a:xfrm>
            <a:off x="859536" y="5029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and business protection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5413248"/>
            <a:ext cx="91440" cy="91440"/>
          </a:xfrm>
          <a:prstGeom prst="rect">
            <a:avLst/>
          </a:prstGeom>
          <a:solidFill>
            <a:srgbClr val="2E3EEE"/>
          </a:solidFill>
          <a:ln w="12700">
            <a:solidFill>
              <a:srgbClr val="2E3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 txBox="1"/>
          <p:nvPr/>
        </p:nvSpPr>
        <p:spPr>
          <a:xfrm>
            <a:off x="859536" y="53400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Marketing, sales and ecommerce tools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97880" y="475488"/>
            <a:ext cx="4224528" cy="6035040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 txBox="1"/>
          <p:nvPr/>
        </p:nvSpPr>
        <p:spPr>
          <a:xfrm>
            <a:off x="6263640" y="768096"/>
            <a:ext cx="34930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LIST TODAY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263640" y="11155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18,765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7680960" y="1152144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business leaders subscribed to the newsletter.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63640" y="2377440"/>
            <a:ext cx="349300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 txBox="1"/>
          <p:nvPr/>
        </p:nvSpPr>
        <p:spPr>
          <a:xfrm>
            <a:off x="6263640" y="250545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41,671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7680960" y="2542032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monthly visits to the Smart SME website.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3767328"/>
            <a:ext cx="349300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6263640" y="38953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43.9%</a:t>
            </a:r>
            <a:endParaRPr lang="en-US" sz="26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3931920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open rate against an industry average of 20%.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263640" y="5157216"/>
            <a:ext cx="349300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33"/>
          <p:cNvSpPr txBox="1"/>
          <p:nvPr/>
        </p:nvSpPr>
        <p:spPr>
          <a:xfrm>
            <a:off x="6263640" y="52852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5.60%</a:t>
            </a:r>
            <a:endParaRPr lang="en-US" sz="26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5321808"/>
            <a:ext cx="20756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click rate against an industry average of 2%.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7548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2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READS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786384"/>
            <a:ext cx="9555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reads </a:t>
            </a:r>
            <a:r>
              <a:rPr lang="en-US" sz="30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SME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371600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are owners, founders or directors.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66928" y="1783080"/>
            <a:ext cx="1097280" cy="804672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 txBox="1"/>
          <p:nvPr/>
        </p:nvSpPr>
        <p:spPr>
          <a:xfrm>
            <a:off x="69494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Owner, founder or MD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755648" y="1783080"/>
            <a:ext cx="1097280" cy="804672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188366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44368" y="1783080"/>
            <a:ext cx="1097280" cy="804672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 txBox="1"/>
          <p:nvPr/>
        </p:nvSpPr>
        <p:spPr>
          <a:xfrm>
            <a:off x="307238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07238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133088" y="1783080"/>
            <a:ext cx="1097280" cy="804672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 txBox="1"/>
          <p:nvPr/>
        </p:nvSpPr>
        <p:spPr>
          <a:xfrm>
            <a:off x="4261104" y="1874520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5.0%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4261104" y="2221992"/>
            <a:ext cx="8961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750" dirty="0">
                <a:solidFill>
                  <a:srgbClr val="2B34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staff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2788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MOST COMMON ROLES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304495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Managing director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2715768" y="3063240"/>
            <a:ext cx="1828800" cy="146304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590288" y="30449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3346704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or owner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15768" y="3364992"/>
            <a:ext cx="1828800" cy="146304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2715768" y="3364992"/>
            <a:ext cx="1496291" cy="146304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 txBox="1"/>
          <p:nvPr/>
        </p:nvSpPr>
        <p:spPr>
          <a:xfrm>
            <a:off x="4590288" y="334670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3648456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director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15768" y="3666744"/>
            <a:ext cx="1828800" cy="146304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Shape 26"/>
          <p:cNvSpPr/>
          <p:nvPr/>
        </p:nvSpPr>
        <p:spPr>
          <a:xfrm>
            <a:off x="2715768" y="3666744"/>
            <a:ext cx="748145" cy="146304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590288" y="364845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3950208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director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15768" y="3968496"/>
            <a:ext cx="1828800" cy="146304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Shape 30"/>
          <p:cNvSpPr/>
          <p:nvPr/>
        </p:nvSpPr>
        <p:spPr>
          <a:xfrm>
            <a:off x="2715768" y="3968496"/>
            <a:ext cx="748145" cy="146304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590288" y="395020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" y="42519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or commercial director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15768" y="4270248"/>
            <a:ext cx="1828800" cy="146304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2715768" y="4270248"/>
            <a:ext cx="665018" cy="146304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590288" y="4251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8.0%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566928" y="455371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or office manager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715768" y="4572000"/>
            <a:ext cx="1828800" cy="146304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8"/>
          <p:cNvSpPr/>
          <p:nvPr/>
        </p:nvSpPr>
        <p:spPr>
          <a:xfrm>
            <a:off x="2715768" y="4572000"/>
            <a:ext cx="581891" cy="146304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590288" y="455371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5532120" y="17830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THEY ARE</a:t>
            </a:r>
            <a:endParaRPr lang="en-US" sz="850" dirty="0"/>
          </a:p>
        </p:txBody>
      </p:sp>
      <p:pic>
        <p:nvPicPr>
          <p:cNvPr id="4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9526" y="2029968"/>
            <a:ext cx="4255477" cy="2212848"/>
          </a:xfrm>
          <a:prstGeom prst="rect">
            <a:avLst/>
          </a:prstGeom>
        </p:spPr>
      </p:pic>
      <p:sp>
        <p:nvSpPr>
          <p:cNvPr id="44" name="Shape 41"/>
          <p:cNvSpPr/>
          <p:nvPr/>
        </p:nvSpPr>
        <p:spPr>
          <a:xfrm>
            <a:off x="5532120" y="4352544"/>
            <a:ext cx="1438656" cy="45720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2"/>
          <p:cNvSpPr txBox="1"/>
          <p:nvPr/>
        </p:nvSpPr>
        <p:spPr>
          <a:xfrm>
            <a:off x="5532120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400" dirty="0"/>
          </a:p>
        </p:txBody>
      </p:sp>
      <p:sp>
        <p:nvSpPr>
          <p:cNvPr id="46" name="Text 43"/>
          <p:cNvSpPr txBox="1"/>
          <p:nvPr/>
        </p:nvSpPr>
        <p:spPr>
          <a:xfrm>
            <a:off x="5532120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 and Ireland</a:t>
            </a:r>
            <a:endParaRPr lang="en-US" sz="750" dirty="0"/>
          </a:p>
        </p:txBody>
      </p:sp>
      <p:sp>
        <p:nvSpPr>
          <p:cNvPr id="47" name="Shape 44"/>
          <p:cNvSpPr/>
          <p:nvPr/>
        </p:nvSpPr>
        <p:spPr>
          <a:xfrm>
            <a:off x="7062216" y="4352544"/>
            <a:ext cx="1438656" cy="45720"/>
          </a:xfrm>
          <a:prstGeom prst="rect">
            <a:avLst/>
          </a:prstGeom>
          <a:solidFill>
            <a:srgbClr val="5B5F9A"/>
          </a:solidFill>
          <a:ln w="12700">
            <a:solidFill>
              <a:srgbClr val="5B5F9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8" name="Text 45"/>
          <p:cNvSpPr txBox="1"/>
          <p:nvPr/>
        </p:nvSpPr>
        <p:spPr>
          <a:xfrm>
            <a:off x="7062216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400" dirty="0"/>
          </a:p>
        </p:txBody>
      </p:sp>
      <p:sp>
        <p:nvSpPr>
          <p:cNvPr id="49" name="Text 46"/>
          <p:cNvSpPr txBox="1"/>
          <p:nvPr/>
        </p:nvSpPr>
        <p:spPr>
          <a:xfrm>
            <a:off x="7062216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</a:t>
            </a:r>
            <a:endParaRPr lang="en-US" sz="750" dirty="0"/>
          </a:p>
        </p:txBody>
      </p:sp>
      <p:sp>
        <p:nvSpPr>
          <p:cNvPr id="50" name="Shape 47"/>
          <p:cNvSpPr/>
          <p:nvPr/>
        </p:nvSpPr>
        <p:spPr>
          <a:xfrm>
            <a:off x="8592312" y="4352544"/>
            <a:ext cx="1438656" cy="45720"/>
          </a:xfrm>
          <a:prstGeom prst="rect">
            <a:avLst/>
          </a:prstGeom>
          <a:solidFill>
            <a:srgbClr val="8A8DB7"/>
          </a:solidFill>
          <a:ln w="12700">
            <a:solidFill>
              <a:srgbClr val="8A8DB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Text 48"/>
          <p:cNvSpPr txBox="1"/>
          <p:nvPr/>
        </p:nvSpPr>
        <p:spPr>
          <a:xfrm>
            <a:off x="8592312" y="4443984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2.0%</a:t>
            </a:r>
            <a:endParaRPr lang="en-US" sz="1400" dirty="0"/>
          </a:p>
        </p:txBody>
      </p:sp>
      <p:sp>
        <p:nvSpPr>
          <p:cNvPr id="52" name="Text 49"/>
          <p:cNvSpPr txBox="1"/>
          <p:nvPr/>
        </p:nvSpPr>
        <p:spPr>
          <a:xfrm>
            <a:off x="8592312" y="4736592"/>
            <a:ext cx="1438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6B7A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of world</a:t>
            </a:r>
            <a:endParaRPr lang="en-US" sz="750" dirty="0"/>
          </a:p>
        </p:txBody>
      </p:sp>
      <p:sp>
        <p:nvSpPr>
          <p:cNvPr id="53" name="Shape 50"/>
          <p:cNvSpPr/>
          <p:nvPr/>
        </p:nvSpPr>
        <p:spPr>
          <a:xfrm>
            <a:off x="566928" y="5074920"/>
            <a:ext cx="3093720" cy="0"/>
          </a:xfrm>
          <a:prstGeom prst="line">
            <a:avLst/>
          </a:prstGeom>
          <a:noFill/>
          <a:ln w="254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/>
          <p:cNvSpPr txBox="1"/>
          <p:nvPr/>
        </p:nvSpPr>
        <p:spPr>
          <a:xfrm>
            <a:off x="56692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COMPANY TURNOVER</a:t>
            </a:r>
            <a:endParaRPr lang="en-US" sz="85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£1m</a:t>
            </a:r>
            <a:endParaRPr lang="en-US" sz="850" dirty="0"/>
          </a:p>
        </p:txBody>
      </p:sp>
      <p:sp>
        <p:nvSpPr>
          <p:cNvPr id="56" name="Shape 53"/>
          <p:cNvSpPr/>
          <p:nvPr/>
        </p:nvSpPr>
        <p:spPr>
          <a:xfrm>
            <a:off x="2212848" y="5495544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4"/>
          <p:cNvSpPr/>
          <p:nvPr/>
        </p:nvSpPr>
        <p:spPr>
          <a:xfrm>
            <a:off x="2212848" y="5495544"/>
            <a:ext cx="842962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5"/>
          <p:cNvSpPr txBox="1"/>
          <p:nvPr/>
        </p:nvSpPr>
        <p:spPr>
          <a:xfrm>
            <a:off x="315772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850" dirty="0"/>
          </a:p>
        </p:txBody>
      </p:sp>
      <p:sp>
        <p:nvSpPr>
          <p:cNvPr id="59" name="Text 56"/>
          <p:cNvSpPr txBox="1"/>
          <p:nvPr/>
        </p:nvSpPr>
        <p:spPr>
          <a:xfrm>
            <a:off x="56692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£1m to £5m</a:t>
            </a:r>
            <a:endParaRPr lang="en-US" sz="850" dirty="0"/>
          </a:p>
        </p:txBody>
      </p:sp>
      <p:sp>
        <p:nvSpPr>
          <p:cNvPr id="60" name="Shape 57"/>
          <p:cNvSpPr/>
          <p:nvPr/>
        </p:nvSpPr>
        <p:spPr>
          <a:xfrm>
            <a:off x="2212848" y="5742432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Shape 58"/>
          <p:cNvSpPr/>
          <p:nvPr/>
        </p:nvSpPr>
        <p:spPr>
          <a:xfrm>
            <a:off x="2212848" y="5742432"/>
            <a:ext cx="899160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2" name="Text 59"/>
          <p:cNvSpPr txBox="1"/>
          <p:nvPr/>
        </p:nvSpPr>
        <p:spPr>
          <a:xfrm>
            <a:off x="315772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850" dirty="0"/>
          </a:p>
        </p:txBody>
      </p:sp>
      <p:sp>
        <p:nvSpPr>
          <p:cNvPr id="63" name="Text 60"/>
          <p:cNvSpPr txBox="1"/>
          <p:nvPr/>
        </p:nvSpPr>
        <p:spPr>
          <a:xfrm>
            <a:off x="56692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£5m to £25m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>
            <a:off x="2212848" y="5989320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2"/>
          <p:cNvSpPr/>
          <p:nvPr/>
        </p:nvSpPr>
        <p:spPr>
          <a:xfrm>
            <a:off x="2212848" y="5989320"/>
            <a:ext cx="674370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3"/>
          <p:cNvSpPr txBox="1"/>
          <p:nvPr/>
        </p:nvSpPr>
        <p:spPr>
          <a:xfrm>
            <a:off x="315772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850" dirty="0"/>
          </a:p>
        </p:txBody>
      </p:sp>
      <p:sp>
        <p:nvSpPr>
          <p:cNvPr id="67" name="Text 64"/>
          <p:cNvSpPr txBox="1"/>
          <p:nvPr/>
        </p:nvSpPr>
        <p:spPr>
          <a:xfrm>
            <a:off x="56692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£25m to £100m</a:t>
            </a:r>
            <a:endParaRPr lang="en-US" sz="850" dirty="0"/>
          </a:p>
        </p:txBody>
      </p:sp>
      <p:sp>
        <p:nvSpPr>
          <p:cNvPr id="68" name="Shape 65"/>
          <p:cNvSpPr/>
          <p:nvPr/>
        </p:nvSpPr>
        <p:spPr>
          <a:xfrm>
            <a:off x="2212848" y="6236208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Shape 66"/>
          <p:cNvSpPr/>
          <p:nvPr/>
        </p:nvSpPr>
        <p:spPr>
          <a:xfrm>
            <a:off x="2212848" y="6236208"/>
            <a:ext cx="280987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0" name="Text 67"/>
          <p:cNvSpPr txBox="1"/>
          <p:nvPr/>
        </p:nvSpPr>
        <p:spPr>
          <a:xfrm>
            <a:off x="315772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71" name="Text 68"/>
          <p:cNvSpPr txBox="1"/>
          <p:nvPr/>
        </p:nvSpPr>
        <p:spPr>
          <a:xfrm>
            <a:off x="566928" y="64648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 £100m</a:t>
            </a:r>
            <a:endParaRPr lang="en-US" sz="850" dirty="0"/>
          </a:p>
        </p:txBody>
      </p:sp>
      <p:sp>
        <p:nvSpPr>
          <p:cNvPr id="72" name="Shape 69"/>
          <p:cNvSpPr/>
          <p:nvPr/>
        </p:nvSpPr>
        <p:spPr>
          <a:xfrm>
            <a:off x="2212848" y="6483096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Shape 70"/>
          <p:cNvSpPr/>
          <p:nvPr/>
        </p:nvSpPr>
        <p:spPr>
          <a:xfrm>
            <a:off x="2212848" y="6483096"/>
            <a:ext cx="112395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4" name="Text 71"/>
          <p:cNvSpPr txBox="1"/>
          <p:nvPr/>
        </p:nvSpPr>
        <p:spPr>
          <a:xfrm>
            <a:off x="3157728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4.0%</a:t>
            </a:r>
            <a:endParaRPr lang="en-US" sz="850" dirty="0"/>
          </a:p>
        </p:txBody>
      </p:sp>
      <p:sp>
        <p:nvSpPr>
          <p:cNvPr id="75" name="Shape 72"/>
          <p:cNvSpPr/>
          <p:nvPr/>
        </p:nvSpPr>
        <p:spPr>
          <a:xfrm>
            <a:off x="3797808" y="5074920"/>
            <a:ext cx="3093720" cy="0"/>
          </a:xfrm>
          <a:prstGeom prst="line">
            <a:avLst/>
          </a:prstGeom>
          <a:noFill/>
          <a:ln w="254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73"/>
          <p:cNvSpPr txBox="1"/>
          <p:nvPr/>
        </p:nvSpPr>
        <p:spPr>
          <a:xfrm>
            <a:off x="379780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SECTOR</a:t>
            </a:r>
            <a:endParaRPr lang="en-US" sz="850" dirty="0"/>
          </a:p>
        </p:txBody>
      </p:sp>
      <p:sp>
        <p:nvSpPr>
          <p:cNvPr id="77" name="Text 74"/>
          <p:cNvSpPr txBox="1"/>
          <p:nvPr/>
        </p:nvSpPr>
        <p:spPr>
          <a:xfrm>
            <a:off x="379780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services</a:t>
            </a:r>
            <a:endParaRPr lang="en-US" sz="850" dirty="0"/>
          </a:p>
        </p:txBody>
      </p:sp>
      <p:sp>
        <p:nvSpPr>
          <p:cNvPr id="78" name="Shape 75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Shape 76"/>
          <p:cNvSpPr/>
          <p:nvPr/>
        </p:nvSpPr>
        <p:spPr>
          <a:xfrm>
            <a:off x="5443728" y="5495544"/>
            <a:ext cx="899160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77"/>
          <p:cNvSpPr txBox="1"/>
          <p:nvPr/>
        </p:nvSpPr>
        <p:spPr>
          <a:xfrm>
            <a:off x="638860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850" dirty="0"/>
          </a:p>
        </p:txBody>
      </p:sp>
      <p:sp>
        <p:nvSpPr>
          <p:cNvPr id="81" name="Text 78"/>
          <p:cNvSpPr txBox="1"/>
          <p:nvPr/>
        </p:nvSpPr>
        <p:spPr>
          <a:xfrm>
            <a:off x="379780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</a:t>
            </a:r>
            <a:endParaRPr lang="en-US" sz="850" dirty="0"/>
          </a:p>
        </p:txBody>
      </p:sp>
      <p:sp>
        <p:nvSpPr>
          <p:cNvPr id="82" name="Shape 79"/>
          <p:cNvSpPr/>
          <p:nvPr/>
        </p:nvSpPr>
        <p:spPr>
          <a:xfrm>
            <a:off x="5443728" y="5742432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Shape 80"/>
          <p:cNvSpPr/>
          <p:nvPr/>
        </p:nvSpPr>
        <p:spPr>
          <a:xfrm>
            <a:off x="5443728" y="5742432"/>
            <a:ext cx="735676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4" name="Text 81"/>
          <p:cNvSpPr txBox="1"/>
          <p:nvPr/>
        </p:nvSpPr>
        <p:spPr>
          <a:xfrm>
            <a:off x="638860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850" dirty="0"/>
          </a:p>
        </p:txBody>
      </p:sp>
      <p:sp>
        <p:nvSpPr>
          <p:cNvPr id="85" name="Text 82"/>
          <p:cNvSpPr txBox="1"/>
          <p:nvPr/>
        </p:nvSpPr>
        <p:spPr>
          <a:xfrm>
            <a:off x="379780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and ecommerce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5443728" y="5989320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Shape 84"/>
          <p:cNvSpPr/>
          <p:nvPr/>
        </p:nvSpPr>
        <p:spPr>
          <a:xfrm>
            <a:off x="5443728" y="5989320"/>
            <a:ext cx="572193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8" name="Text 85"/>
          <p:cNvSpPr txBox="1"/>
          <p:nvPr/>
        </p:nvSpPr>
        <p:spPr>
          <a:xfrm>
            <a:off x="638860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14%</a:t>
            </a:r>
            <a:endParaRPr lang="en-US" sz="850" dirty="0"/>
          </a:p>
        </p:txBody>
      </p:sp>
      <p:sp>
        <p:nvSpPr>
          <p:cNvPr id="89" name="Text 86"/>
          <p:cNvSpPr txBox="1"/>
          <p:nvPr/>
        </p:nvSpPr>
        <p:spPr>
          <a:xfrm>
            <a:off x="379780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and trades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5443728" y="6236208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Shape 88"/>
          <p:cNvSpPr/>
          <p:nvPr/>
        </p:nvSpPr>
        <p:spPr>
          <a:xfrm>
            <a:off x="5443728" y="6236208"/>
            <a:ext cx="531322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2" name="Text 89"/>
          <p:cNvSpPr txBox="1"/>
          <p:nvPr/>
        </p:nvSpPr>
        <p:spPr>
          <a:xfrm>
            <a:off x="638860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850" dirty="0"/>
          </a:p>
        </p:txBody>
      </p:sp>
      <p:sp>
        <p:nvSpPr>
          <p:cNvPr id="93" name="Text 90"/>
          <p:cNvSpPr txBox="1"/>
          <p:nvPr/>
        </p:nvSpPr>
        <p:spPr>
          <a:xfrm>
            <a:off x="3797808" y="646480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Hospitality and leisure</a:t>
            </a:r>
            <a:endParaRPr lang="en-US" sz="850" dirty="0"/>
          </a:p>
        </p:txBody>
      </p:sp>
      <p:sp>
        <p:nvSpPr>
          <p:cNvPr id="94" name="Shape 91"/>
          <p:cNvSpPr/>
          <p:nvPr/>
        </p:nvSpPr>
        <p:spPr>
          <a:xfrm>
            <a:off x="5443728" y="6483096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5" name="Shape 92"/>
          <p:cNvSpPr/>
          <p:nvPr/>
        </p:nvSpPr>
        <p:spPr>
          <a:xfrm>
            <a:off x="5443728" y="6483096"/>
            <a:ext cx="408709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Text 93"/>
          <p:cNvSpPr txBox="1"/>
          <p:nvPr/>
        </p:nvSpPr>
        <p:spPr>
          <a:xfrm>
            <a:off x="6388608" y="646480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850" dirty="0"/>
          </a:p>
        </p:txBody>
      </p:sp>
      <p:sp>
        <p:nvSpPr>
          <p:cNvPr id="97" name="Shape 94"/>
          <p:cNvSpPr/>
          <p:nvPr/>
        </p:nvSpPr>
        <p:spPr>
          <a:xfrm>
            <a:off x="7028688" y="5074920"/>
            <a:ext cx="3093720" cy="0"/>
          </a:xfrm>
          <a:prstGeom prst="line">
            <a:avLst/>
          </a:prstGeom>
          <a:noFill/>
          <a:ln w="254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95"/>
          <p:cNvSpPr txBox="1"/>
          <p:nvPr/>
        </p:nvSpPr>
        <p:spPr>
          <a:xfrm>
            <a:off x="7028688" y="5202936"/>
            <a:ext cx="3093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STAFF</a:t>
            </a:r>
            <a:endParaRPr lang="en-US" sz="850" dirty="0"/>
          </a:p>
        </p:txBody>
      </p:sp>
      <p:sp>
        <p:nvSpPr>
          <p:cNvPr id="99" name="Text 96"/>
          <p:cNvSpPr txBox="1"/>
          <p:nvPr/>
        </p:nvSpPr>
        <p:spPr>
          <a:xfrm>
            <a:off x="7028688" y="5477256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to 9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8674608" y="5495544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1" name="Shape 98"/>
          <p:cNvSpPr/>
          <p:nvPr/>
        </p:nvSpPr>
        <p:spPr>
          <a:xfrm>
            <a:off x="8674608" y="5495544"/>
            <a:ext cx="662539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Text 99"/>
          <p:cNvSpPr txBox="1"/>
          <p:nvPr/>
        </p:nvSpPr>
        <p:spPr>
          <a:xfrm>
            <a:off x="9619488" y="547725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850" dirty="0"/>
          </a:p>
        </p:txBody>
      </p:sp>
      <p:sp>
        <p:nvSpPr>
          <p:cNvPr id="103" name="Text 100"/>
          <p:cNvSpPr txBox="1"/>
          <p:nvPr/>
        </p:nvSpPr>
        <p:spPr>
          <a:xfrm>
            <a:off x="7028688" y="572414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to 49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5" name="Shape 102"/>
          <p:cNvSpPr/>
          <p:nvPr/>
        </p:nvSpPr>
        <p:spPr>
          <a:xfrm>
            <a:off x="8674608" y="5742432"/>
            <a:ext cx="899160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6" name="Text 103"/>
          <p:cNvSpPr txBox="1"/>
          <p:nvPr/>
        </p:nvSpPr>
        <p:spPr>
          <a:xfrm>
            <a:off x="9619488" y="572414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850" dirty="0"/>
          </a:p>
        </p:txBody>
      </p:sp>
      <p:sp>
        <p:nvSpPr>
          <p:cNvPr id="107" name="Text 104"/>
          <p:cNvSpPr txBox="1"/>
          <p:nvPr/>
        </p:nvSpPr>
        <p:spPr>
          <a:xfrm>
            <a:off x="7028688" y="59710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to 249</a:t>
            </a:r>
            <a:endParaRPr lang="en-US" sz="850" dirty="0"/>
          </a:p>
        </p:txBody>
      </p:sp>
      <p:sp>
        <p:nvSpPr>
          <p:cNvPr id="108" name="Shape 105"/>
          <p:cNvSpPr/>
          <p:nvPr/>
        </p:nvSpPr>
        <p:spPr>
          <a:xfrm>
            <a:off x="8674608" y="5989320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9" name="Shape 106"/>
          <p:cNvSpPr/>
          <p:nvPr/>
        </p:nvSpPr>
        <p:spPr>
          <a:xfrm>
            <a:off x="8674608" y="5989320"/>
            <a:ext cx="638877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0" name="Text 107"/>
          <p:cNvSpPr txBox="1"/>
          <p:nvPr/>
        </p:nvSpPr>
        <p:spPr>
          <a:xfrm>
            <a:off x="9619488" y="59710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27%</a:t>
            </a:r>
            <a:endParaRPr lang="en-US" sz="850" dirty="0"/>
          </a:p>
        </p:txBody>
      </p:sp>
      <p:sp>
        <p:nvSpPr>
          <p:cNvPr id="111" name="Text 108"/>
          <p:cNvSpPr txBox="1"/>
          <p:nvPr/>
        </p:nvSpPr>
        <p:spPr>
          <a:xfrm>
            <a:off x="7028688" y="621792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or more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8674608" y="6236208"/>
            <a:ext cx="899160" cy="12801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Shape 110"/>
          <p:cNvSpPr/>
          <p:nvPr/>
        </p:nvSpPr>
        <p:spPr>
          <a:xfrm>
            <a:off x="8674608" y="6236208"/>
            <a:ext cx="165635" cy="128016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4" name="Text 111"/>
          <p:cNvSpPr txBox="1"/>
          <p:nvPr/>
        </p:nvSpPr>
        <p:spPr>
          <a:xfrm>
            <a:off x="9619488" y="621792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7.0%</a:t>
            </a:r>
            <a:endParaRPr lang="en-US" sz="850" dirty="0"/>
          </a:p>
        </p:txBody>
      </p:sp>
      <p:sp>
        <p:nvSpPr>
          <p:cNvPr id="115" name="Shape 112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6" name="Text 113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SME   ·   WHO READS</a:t>
            </a:r>
            <a:endParaRPr lang="en-US" sz="850" dirty="0"/>
          </a:p>
        </p:txBody>
      </p:sp>
      <p:sp>
        <p:nvSpPr>
          <p:cNvPr id="117" name="Text 114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SME   ·   WHAT YOU CAN BUY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YOU CAN BUY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ways in.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format is digital. Our subscribers have requested to receive content from brands who are able to help their business.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27432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A BOOKING RUNS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3108960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E3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969264" y="309067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tell us what channels you want to use.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547872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E3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969264" y="35295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confirm format, date and price in writing.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986784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E3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969264" y="396849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send artwork, or copy and we build it.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4425696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E3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969264" y="4407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approve it before anything goes out.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64608"/>
            <a:ext cx="329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60" dirty="0">
                <a:solidFill>
                  <a:srgbClr val="2E3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69264" y="48463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send the report on your campaign alone.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800600" y="1332471"/>
            <a:ext cx="2743200" cy="0"/>
          </a:xfrm>
          <a:prstGeom prst="line">
            <a:avLst/>
          </a:prstGeom>
          <a:noFill/>
          <a:ln w="28575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8"/>
          <p:cNvSpPr/>
          <p:nvPr/>
        </p:nvSpPr>
        <p:spPr>
          <a:xfrm>
            <a:off x="4800600" y="1497063"/>
            <a:ext cx="1143000" cy="1600200"/>
          </a:xfrm>
          <a:prstGeom prst="rect">
            <a:avLst/>
          </a:prstGeom>
          <a:solidFill>
            <a:srgbClr val="F1F1F6"/>
          </a:solidFill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4910328" y="1634223"/>
            <a:ext cx="914400" cy="91440"/>
          </a:xfrm>
          <a:prstGeom prst="rect">
            <a:avLst/>
          </a:prstGeom>
          <a:solidFill>
            <a:srgbClr val="0A0C16"/>
          </a:solidFill>
          <a:ln w="12700">
            <a:solidFill>
              <a:srgbClr val="0A0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Shape 20"/>
          <p:cNvSpPr/>
          <p:nvPr/>
        </p:nvSpPr>
        <p:spPr>
          <a:xfrm>
            <a:off x="4910328" y="1817103"/>
            <a:ext cx="914400" cy="274320"/>
          </a:xfrm>
          <a:prstGeom prst="rect">
            <a:avLst/>
          </a:prstGeom>
          <a:solidFill>
            <a:srgbClr val="2E3EEE"/>
          </a:solidFill>
          <a:ln w="12700">
            <a:solidFill>
              <a:srgbClr val="2E3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 txBox="1"/>
          <p:nvPr/>
        </p:nvSpPr>
        <p:spPr>
          <a:xfrm>
            <a:off x="4910328" y="1881111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</a:t>
            </a:r>
            <a:endParaRPr lang="en-US" sz="600" dirty="0"/>
          </a:p>
        </p:txBody>
      </p:sp>
      <p:sp>
        <p:nvSpPr>
          <p:cNvPr id="24" name="Shape 22"/>
          <p:cNvSpPr/>
          <p:nvPr/>
        </p:nvSpPr>
        <p:spPr>
          <a:xfrm>
            <a:off x="4910328" y="2201151"/>
            <a:ext cx="512064" cy="384048"/>
          </a:xfrm>
          <a:prstGeom prst="rect">
            <a:avLst/>
          </a:prstGeom>
          <a:solidFill>
            <a:srgbClr val="DADBE8"/>
          </a:solidFill>
          <a:ln w="12700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5495544" y="2201151"/>
            <a:ext cx="329184" cy="384048"/>
          </a:xfrm>
          <a:prstGeom prst="rect">
            <a:avLst/>
          </a:prstGeom>
          <a:solidFill>
            <a:srgbClr val="2E3EEE"/>
          </a:solidFill>
          <a:ln w="12700">
            <a:solidFill>
              <a:srgbClr val="2E3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4"/>
          <p:cNvSpPr txBox="1"/>
          <p:nvPr/>
        </p:nvSpPr>
        <p:spPr>
          <a:xfrm>
            <a:off x="5495544" y="2320023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300×250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4910328" y="2676639"/>
            <a:ext cx="548640" cy="182880"/>
          </a:xfrm>
          <a:prstGeom prst="rect">
            <a:avLst/>
          </a:prstGeom>
          <a:solidFill>
            <a:srgbClr val="2E3EEE"/>
          </a:solidFill>
          <a:ln w="12700">
            <a:solidFill>
              <a:srgbClr val="2E3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 txBox="1"/>
          <p:nvPr/>
        </p:nvSpPr>
        <p:spPr>
          <a:xfrm>
            <a:off x="4910328" y="2694927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728×90</a:t>
            </a:r>
            <a:endParaRPr lang="en-US" sz="600" dirty="0"/>
          </a:p>
        </p:txBody>
      </p:sp>
      <p:sp>
        <p:nvSpPr>
          <p:cNvPr id="29" name="Shape 27"/>
          <p:cNvSpPr/>
          <p:nvPr/>
        </p:nvSpPr>
        <p:spPr>
          <a:xfrm>
            <a:off x="4910328" y="2932671"/>
            <a:ext cx="749808" cy="64008"/>
          </a:xfrm>
          <a:prstGeom prst="rect">
            <a:avLst/>
          </a:prstGeom>
          <a:solidFill>
            <a:srgbClr val="DADBE8"/>
          </a:solidFill>
          <a:ln w="12700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8"/>
          <p:cNvSpPr txBox="1"/>
          <p:nvPr/>
        </p:nvSpPr>
        <p:spPr>
          <a:xfrm>
            <a:off x="609904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banners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09904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across the whole site.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970×250  ·  728×90  ·  300×250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26680" y="1332471"/>
            <a:ext cx="2743200" cy="0"/>
          </a:xfrm>
          <a:prstGeom prst="line">
            <a:avLst/>
          </a:prstGeom>
          <a:noFill/>
          <a:ln w="28575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32"/>
          <p:cNvSpPr/>
          <p:nvPr/>
        </p:nvSpPr>
        <p:spPr>
          <a:xfrm>
            <a:off x="7726680" y="1497063"/>
            <a:ext cx="1143000" cy="1600200"/>
          </a:xfrm>
          <a:prstGeom prst="rect">
            <a:avLst/>
          </a:prstGeom>
          <a:solidFill>
            <a:srgbClr val="F1F1F6"/>
          </a:solidFill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hape 33"/>
          <p:cNvSpPr/>
          <p:nvPr/>
        </p:nvSpPr>
        <p:spPr>
          <a:xfrm>
            <a:off x="7836408" y="1634223"/>
            <a:ext cx="914400" cy="128016"/>
          </a:xfrm>
          <a:prstGeom prst="rect">
            <a:avLst/>
          </a:prstGeom>
          <a:solidFill>
            <a:srgbClr val="0A0C16"/>
          </a:solidFill>
          <a:ln w="12700">
            <a:solidFill>
              <a:srgbClr val="0A0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Shape 34"/>
          <p:cNvSpPr/>
          <p:nvPr/>
        </p:nvSpPr>
        <p:spPr>
          <a:xfrm>
            <a:off x="7836408" y="1871967"/>
            <a:ext cx="914400" cy="54864"/>
          </a:xfrm>
          <a:prstGeom prst="rect">
            <a:avLst/>
          </a:prstGeom>
          <a:solidFill>
            <a:srgbClr val="DADBE8"/>
          </a:solidFill>
          <a:ln w="12700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Shape 35"/>
          <p:cNvSpPr/>
          <p:nvPr/>
        </p:nvSpPr>
        <p:spPr>
          <a:xfrm>
            <a:off x="7836408" y="1963407"/>
            <a:ext cx="914400" cy="54864"/>
          </a:xfrm>
          <a:prstGeom prst="rect">
            <a:avLst/>
          </a:prstGeom>
          <a:solidFill>
            <a:srgbClr val="DADBE8"/>
          </a:solidFill>
          <a:ln w="12700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Shape 36"/>
          <p:cNvSpPr/>
          <p:nvPr/>
        </p:nvSpPr>
        <p:spPr>
          <a:xfrm>
            <a:off x="7836408" y="2054847"/>
            <a:ext cx="914400" cy="54864"/>
          </a:xfrm>
          <a:prstGeom prst="rect">
            <a:avLst/>
          </a:prstGeom>
          <a:solidFill>
            <a:srgbClr val="DADBE8"/>
          </a:solidFill>
          <a:ln w="12700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Shape 37"/>
          <p:cNvSpPr/>
          <p:nvPr/>
        </p:nvSpPr>
        <p:spPr>
          <a:xfrm>
            <a:off x="7836408" y="2201151"/>
            <a:ext cx="914400" cy="347472"/>
          </a:xfrm>
          <a:prstGeom prst="rect">
            <a:avLst/>
          </a:prstGeom>
          <a:solidFill>
            <a:srgbClr val="2E3EEE"/>
          </a:solidFill>
          <a:ln w="12700">
            <a:solidFill>
              <a:srgbClr val="2E3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Text 38"/>
          <p:cNvSpPr txBox="1"/>
          <p:nvPr/>
        </p:nvSpPr>
        <p:spPr>
          <a:xfrm>
            <a:off x="7836408" y="2301735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Sponsored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7836408" y="2658351"/>
            <a:ext cx="914400" cy="54864"/>
          </a:xfrm>
          <a:prstGeom prst="rect">
            <a:avLst/>
          </a:prstGeom>
          <a:solidFill>
            <a:srgbClr val="DADBE8"/>
          </a:solidFill>
          <a:ln w="12700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Shape 40"/>
          <p:cNvSpPr/>
          <p:nvPr/>
        </p:nvSpPr>
        <p:spPr>
          <a:xfrm>
            <a:off x="7836408" y="2749791"/>
            <a:ext cx="914400" cy="54864"/>
          </a:xfrm>
          <a:prstGeom prst="rect">
            <a:avLst/>
          </a:prstGeom>
          <a:solidFill>
            <a:srgbClr val="DADBE8"/>
          </a:solidFill>
          <a:ln w="12700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Shape 41"/>
          <p:cNvSpPr/>
          <p:nvPr/>
        </p:nvSpPr>
        <p:spPr>
          <a:xfrm>
            <a:off x="7836408" y="2841231"/>
            <a:ext cx="914400" cy="54864"/>
          </a:xfrm>
          <a:prstGeom prst="rect">
            <a:avLst/>
          </a:prstGeom>
          <a:solidFill>
            <a:srgbClr val="DADBE8"/>
          </a:solidFill>
          <a:ln w="12700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4" name="Shape 42"/>
          <p:cNvSpPr/>
          <p:nvPr/>
        </p:nvSpPr>
        <p:spPr>
          <a:xfrm>
            <a:off x="7836408" y="2932671"/>
            <a:ext cx="914400" cy="54864"/>
          </a:xfrm>
          <a:prstGeom prst="rect">
            <a:avLst/>
          </a:prstGeom>
          <a:solidFill>
            <a:srgbClr val="DADBE8"/>
          </a:solidFill>
          <a:ln w="12700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43"/>
          <p:cNvSpPr txBox="1"/>
          <p:nvPr/>
        </p:nvSpPr>
        <p:spPr>
          <a:xfrm>
            <a:off x="9025128" y="1515351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newsletter content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9025128" y="2210295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story in our Monday Briefing, next to our editorial and labelled as sponsored.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7726680" y="3216135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400 words  ·  logo  ·  one link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920223"/>
            <a:ext cx="2743200" cy="0"/>
          </a:xfrm>
          <a:prstGeom prst="line">
            <a:avLst/>
          </a:prstGeom>
          <a:noFill/>
          <a:ln w="28575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800600" y="4084815"/>
            <a:ext cx="1143000" cy="1600200"/>
          </a:xfrm>
          <a:prstGeom prst="rect">
            <a:avLst/>
          </a:prstGeom>
          <a:solidFill>
            <a:srgbClr val="F1F1F6"/>
          </a:solidFill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Shape 48"/>
          <p:cNvSpPr/>
          <p:nvPr/>
        </p:nvSpPr>
        <p:spPr>
          <a:xfrm>
            <a:off x="4910328" y="4221975"/>
            <a:ext cx="914400" cy="128016"/>
          </a:xfrm>
          <a:prstGeom prst="rect">
            <a:avLst/>
          </a:prstGeom>
          <a:solidFill>
            <a:srgbClr val="0A0C16"/>
          </a:solidFill>
          <a:ln w="12700">
            <a:solidFill>
              <a:srgbClr val="0A0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1" name="Shape 49"/>
          <p:cNvSpPr/>
          <p:nvPr/>
        </p:nvSpPr>
        <p:spPr>
          <a:xfrm>
            <a:off x="4910328" y="4404855"/>
            <a:ext cx="914400" cy="201168"/>
          </a:xfrm>
          <a:prstGeom prst="rect">
            <a:avLst/>
          </a:prstGeom>
          <a:solidFill>
            <a:srgbClr val="2E3EEE"/>
          </a:solidFill>
          <a:ln w="12700">
            <a:solidFill>
              <a:srgbClr val="2E3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910328" y="443228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4910328" y="4715751"/>
            <a:ext cx="914400" cy="91440"/>
          </a:xfrm>
          <a:prstGeom prst="rect">
            <a:avLst/>
          </a:prstGeom>
          <a:solidFill>
            <a:srgbClr val="DADBE8"/>
          </a:solidFill>
          <a:ln w="12700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Shape 52"/>
          <p:cNvSpPr/>
          <p:nvPr/>
        </p:nvSpPr>
        <p:spPr>
          <a:xfrm>
            <a:off x="4910328" y="4862055"/>
            <a:ext cx="914400" cy="91440"/>
          </a:xfrm>
          <a:prstGeom prst="rect">
            <a:avLst/>
          </a:prstGeom>
          <a:solidFill>
            <a:srgbClr val="DADBE8"/>
          </a:solidFill>
          <a:ln w="12700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Shape 53"/>
          <p:cNvSpPr/>
          <p:nvPr/>
        </p:nvSpPr>
        <p:spPr>
          <a:xfrm>
            <a:off x="4910328" y="5008359"/>
            <a:ext cx="914400" cy="91440"/>
          </a:xfrm>
          <a:prstGeom prst="rect">
            <a:avLst/>
          </a:prstGeom>
          <a:solidFill>
            <a:srgbClr val="DADBE8"/>
          </a:solidFill>
          <a:ln w="12700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6" name="Shape 54"/>
          <p:cNvSpPr/>
          <p:nvPr/>
        </p:nvSpPr>
        <p:spPr>
          <a:xfrm>
            <a:off x="4910328" y="5154663"/>
            <a:ext cx="603504" cy="64008"/>
          </a:xfrm>
          <a:prstGeom prst="rect">
            <a:avLst/>
          </a:prstGeom>
          <a:solidFill>
            <a:srgbClr val="DADBE8"/>
          </a:solidFill>
          <a:ln w="12700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Shape 55"/>
          <p:cNvSpPr/>
          <p:nvPr/>
        </p:nvSpPr>
        <p:spPr>
          <a:xfrm>
            <a:off x="4910328" y="5355831"/>
            <a:ext cx="914400" cy="219456"/>
          </a:xfrm>
          <a:prstGeom prst="rect">
            <a:avLst/>
          </a:prstGeom>
          <a:solidFill>
            <a:srgbClr val="2E3EEE"/>
          </a:solidFill>
          <a:ln w="12700">
            <a:solidFill>
              <a:srgbClr val="2E3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8" name="Text 56"/>
          <p:cNvSpPr txBox="1"/>
          <p:nvPr/>
        </p:nvSpPr>
        <p:spPr>
          <a:xfrm>
            <a:off x="4910328" y="5392407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Banner</a:t>
            </a:r>
            <a:endParaRPr lang="en-US" sz="600" dirty="0"/>
          </a:p>
        </p:txBody>
      </p:sp>
      <p:sp>
        <p:nvSpPr>
          <p:cNvPr id="59" name="Text 57"/>
          <p:cNvSpPr txBox="1"/>
          <p:nvPr/>
        </p:nvSpPr>
        <p:spPr>
          <a:xfrm>
            <a:off x="609904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609904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as the named sponsor of every issue of our Monday Briefing.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480060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issue, or sponsor a series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7726680" y="3920223"/>
            <a:ext cx="2743200" cy="0"/>
          </a:xfrm>
          <a:prstGeom prst="line">
            <a:avLst/>
          </a:prstGeom>
          <a:noFill/>
          <a:ln w="28575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Shape 61"/>
          <p:cNvSpPr/>
          <p:nvPr/>
        </p:nvSpPr>
        <p:spPr>
          <a:xfrm>
            <a:off x="7726680" y="4084815"/>
            <a:ext cx="1143000" cy="1600200"/>
          </a:xfrm>
          <a:prstGeom prst="rect">
            <a:avLst/>
          </a:prstGeom>
          <a:solidFill>
            <a:srgbClr val="F1F1F6"/>
          </a:solidFill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Shape 62"/>
          <p:cNvSpPr/>
          <p:nvPr/>
        </p:nvSpPr>
        <p:spPr>
          <a:xfrm>
            <a:off x="7836408" y="4221975"/>
            <a:ext cx="914400" cy="128016"/>
          </a:xfrm>
          <a:prstGeom prst="rect">
            <a:avLst/>
          </a:prstGeom>
          <a:solidFill>
            <a:srgbClr val="0A0C16"/>
          </a:solidFill>
          <a:ln w="12700">
            <a:solidFill>
              <a:srgbClr val="0A0C1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Shape 63"/>
          <p:cNvSpPr/>
          <p:nvPr/>
        </p:nvSpPr>
        <p:spPr>
          <a:xfrm>
            <a:off x="7836408" y="4441431"/>
            <a:ext cx="914400" cy="1115568"/>
          </a:xfrm>
          <a:prstGeom prst="rect">
            <a:avLst/>
          </a:prstGeom>
          <a:solidFill>
            <a:srgbClr val="2E3EEE"/>
          </a:solidFill>
          <a:ln w="12700">
            <a:solidFill>
              <a:srgbClr val="2E3EE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64"/>
          <p:cNvSpPr txBox="1"/>
          <p:nvPr/>
        </p:nvSpPr>
        <p:spPr>
          <a:xfrm>
            <a:off x="7836408" y="4926063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email</a:t>
            </a:r>
            <a:endParaRPr lang="en-US" sz="600" dirty="0"/>
          </a:p>
        </p:txBody>
      </p:sp>
      <p:sp>
        <p:nvSpPr>
          <p:cNvPr id="67" name="Text 65"/>
          <p:cNvSpPr txBox="1"/>
          <p:nvPr/>
        </p:nvSpPr>
        <p:spPr>
          <a:xfrm>
            <a:off x="9025128" y="4103103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Solus email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9025128" y="4798047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own email, sent to our subscribers. Nobody else in it. 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7726680" y="5803887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8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 build it, or send finished HTML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SME   ·   RATES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RATES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campaign.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157276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team of marketing experts can work with you to build bespoke campaigns to fit your advertising goals and strategies.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All marketing options are built to send our audience straight to your website with one easy click.</a:t>
            </a: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rgbClr val="2B3437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</a:rPr>
              <a:t>Whatever you chose, it’s designed to deliver traffic to you.   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151B6E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 txBox="1"/>
          <p:nvPr/>
        </p:nvSpPr>
        <p:spPr>
          <a:xfrm>
            <a:off x="804672" y="5016734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9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TALK IT THROUGH</a:t>
            </a:r>
            <a:endParaRPr lang="en-US" sz="900" dirty="0"/>
          </a:p>
        </p:txBody>
      </p:sp>
      <p:sp>
        <p:nvSpPr>
          <p:cNvPr id="10" name="Text 8">
            <a:hlinkClick r:id="rId3"/>
          </p:cNvPr>
          <p:cNvSpPr txBox="1"/>
          <p:nvPr/>
        </p:nvSpPr>
        <p:spPr>
          <a:xfrm>
            <a:off x="804672" y="5254478"/>
            <a:ext cx="309067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jb@smartsme.co.uk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34840" y="638576"/>
            <a:ext cx="5687568" cy="384048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739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813816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9098280" y="73916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34840" y="1022624"/>
            <a:ext cx="5687568" cy="31089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 txBox="1"/>
          <p:nvPr/>
        </p:nvSpPr>
        <p:spPr>
          <a:xfrm>
            <a:off x="4636008" y="11049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4636008" y="14432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Eshot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4636008" y="1662704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message alone, nobody else in it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717804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£1,000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£750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98280" y="1479824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£500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34840" y="2055896"/>
            <a:ext cx="568756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219305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Newsletter sponsorship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241251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 sponsor of the Monday Briefing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717804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13816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222963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434840" y="2833136"/>
            <a:ext cx="5687568" cy="31089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Text 29"/>
          <p:cNvSpPr txBox="1"/>
          <p:nvPr/>
        </p:nvSpPr>
        <p:spPr>
          <a:xfrm>
            <a:off x="4636008" y="29154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4636008" y="32537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Sponsored article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636008" y="3473216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the website and in the newsletter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17804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£200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£150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9098280" y="329033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£100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434840" y="3848740"/>
            <a:ext cx="5687568" cy="31089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37"/>
          <p:cNvSpPr txBox="1"/>
          <p:nvPr/>
        </p:nvSpPr>
        <p:spPr>
          <a:xfrm>
            <a:off x="4636008" y="39310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4636008" y="482291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Billboard, 970×250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636008" y="5042366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of the homepage</a:t>
            </a:r>
            <a:endParaRPr lang="en-US" sz="950" dirty="0"/>
          </a:p>
        </p:txBody>
      </p:sp>
      <p:sp>
        <p:nvSpPr>
          <p:cNvPr id="42" name="Text 40"/>
          <p:cNvSpPr txBox="1"/>
          <p:nvPr/>
        </p:nvSpPr>
        <p:spPr>
          <a:xfrm>
            <a:off x="717804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£900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£2,100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4859486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£3,000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34840" y="5270966"/>
            <a:ext cx="568756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6" name="Text 44"/>
          <p:cNvSpPr txBox="1"/>
          <p:nvPr/>
        </p:nvSpPr>
        <p:spPr>
          <a:xfrm>
            <a:off x="4636008" y="540812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Leaderboard, 728×90</a:t>
            </a:r>
            <a:endParaRPr lang="en-US" sz="1050" dirty="0"/>
          </a:p>
        </p:txBody>
      </p:sp>
      <p:sp>
        <p:nvSpPr>
          <p:cNvPr id="47" name="Text 45"/>
          <p:cNvSpPr txBox="1"/>
          <p:nvPr/>
        </p:nvSpPr>
        <p:spPr>
          <a:xfrm>
            <a:off x="4636008" y="562758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the site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717804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£600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813816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9098280" y="544470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£1,800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4434840" y="5856182"/>
            <a:ext cx="568756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2" name="Text 50"/>
          <p:cNvSpPr txBox="1"/>
          <p:nvPr/>
        </p:nvSpPr>
        <p:spPr>
          <a:xfrm>
            <a:off x="4636008" y="599334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MPU, 300×250</a:t>
            </a:r>
            <a:endParaRPr lang="en-US" sz="1050" dirty="0"/>
          </a:p>
        </p:txBody>
      </p:sp>
      <p:sp>
        <p:nvSpPr>
          <p:cNvPr id="53" name="Text 51"/>
          <p:cNvSpPr txBox="1"/>
          <p:nvPr/>
        </p:nvSpPr>
        <p:spPr>
          <a:xfrm>
            <a:off x="4636008" y="621279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Sidebar button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17804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£400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813816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£800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9098280" y="6029918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34840" y="6541982"/>
            <a:ext cx="568756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7"/>
          <p:cNvSpPr txBox="1"/>
          <p:nvPr/>
        </p:nvSpPr>
        <p:spPr>
          <a:xfrm>
            <a:off x="8842248" y="6587702"/>
            <a:ext cx="139712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6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rates exclude VAT</a:t>
            </a:r>
            <a:endParaRPr lang="en-US" sz="750" dirty="0"/>
          </a:p>
        </p:txBody>
      </p:sp>
      <p:sp>
        <p:nvSpPr>
          <p:cNvPr id="61" name="Text 12">
            <a:extLst>
              <a:ext uri="{FF2B5EF4-FFF2-40B4-BE49-F238E27FC236}">
                <a16:creationId xmlns:a16="http://schemas.microsoft.com/office/drawing/2014/main" id="{007DABE7-9D60-1518-AF66-C9A141C72B5C}"/>
              </a:ext>
            </a:extLst>
          </p:cNvPr>
          <p:cNvSpPr txBox="1"/>
          <p:nvPr/>
        </p:nvSpPr>
        <p:spPr>
          <a:xfrm>
            <a:off x="813816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63" name="Text 12">
            <a:extLst>
              <a:ext uri="{FF2B5EF4-FFF2-40B4-BE49-F238E27FC236}">
                <a16:creationId xmlns:a16="http://schemas.microsoft.com/office/drawing/2014/main" id="{51191E08-41FB-FCBA-F8D1-350FABD93E1B}"/>
              </a:ext>
            </a:extLst>
          </p:cNvPr>
          <p:cNvSpPr txBox="1"/>
          <p:nvPr/>
        </p:nvSpPr>
        <p:spPr>
          <a:xfrm>
            <a:off x="8138160" y="242036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65" name="Text 12">
            <a:extLst>
              <a:ext uri="{FF2B5EF4-FFF2-40B4-BE49-F238E27FC236}">
                <a16:creationId xmlns:a16="http://schemas.microsoft.com/office/drawing/2014/main" id="{A4804B29-3A9B-4FA8-5D54-76EE23B5C071}"/>
              </a:ext>
            </a:extLst>
          </p:cNvPr>
          <p:cNvSpPr txBox="1"/>
          <p:nvPr/>
        </p:nvSpPr>
        <p:spPr>
          <a:xfrm>
            <a:off x="8138160" y="347728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67" name="Text 12">
            <a:extLst>
              <a:ext uri="{FF2B5EF4-FFF2-40B4-BE49-F238E27FC236}">
                <a16:creationId xmlns:a16="http://schemas.microsoft.com/office/drawing/2014/main" id="{BDF540F2-61B2-8B41-2919-4BF409C0C26C}"/>
              </a:ext>
            </a:extLst>
          </p:cNvPr>
          <p:cNvSpPr txBox="1"/>
          <p:nvPr/>
        </p:nvSpPr>
        <p:spPr>
          <a:xfrm>
            <a:off x="9098280" y="1664445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69" name="Text 12">
            <a:extLst>
              <a:ext uri="{FF2B5EF4-FFF2-40B4-BE49-F238E27FC236}">
                <a16:creationId xmlns:a16="http://schemas.microsoft.com/office/drawing/2014/main" id="{9ABE8BC8-1EA4-D247-20CD-A0FC42E752B3}"/>
              </a:ext>
            </a:extLst>
          </p:cNvPr>
          <p:cNvSpPr txBox="1"/>
          <p:nvPr/>
        </p:nvSpPr>
        <p:spPr>
          <a:xfrm>
            <a:off x="9098280" y="24161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217B008C-DFFF-134E-4812-32C5CC1CDC4D}"/>
              </a:ext>
            </a:extLst>
          </p:cNvPr>
          <p:cNvSpPr txBox="1"/>
          <p:nvPr/>
        </p:nvSpPr>
        <p:spPr>
          <a:xfrm>
            <a:off x="9098280" y="347223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EACH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73" name="Text 12">
            <a:extLst>
              <a:ext uri="{FF2B5EF4-FFF2-40B4-BE49-F238E27FC236}">
                <a16:creationId xmlns:a16="http://schemas.microsoft.com/office/drawing/2014/main" id="{0C5EC0BE-3043-D061-C4F8-AA17149E0E31}"/>
              </a:ext>
            </a:extLst>
          </p:cNvPr>
          <p:cNvSpPr txBox="1"/>
          <p:nvPr/>
        </p:nvSpPr>
        <p:spPr>
          <a:xfrm>
            <a:off x="8138160" y="505549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75" name="Text 12">
            <a:extLst>
              <a:ext uri="{FF2B5EF4-FFF2-40B4-BE49-F238E27FC236}">
                <a16:creationId xmlns:a16="http://schemas.microsoft.com/office/drawing/2014/main" id="{D3673BB9-6A5E-2CE4-5007-5F8C61E8D3D9}"/>
              </a:ext>
            </a:extLst>
          </p:cNvPr>
          <p:cNvSpPr txBox="1"/>
          <p:nvPr/>
        </p:nvSpPr>
        <p:spPr>
          <a:xfrm>
            <a:off x="9098280" y="5048302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77" name="Text 12">
            <a:extLst>
              <a:ext uri="{FF2B5EF4-FFF2-40B4-BE49-F238E27FC236}">
                <a16:creationId xmlns:a16="http://schemas.microsoft.com/office/drawing/2014/main" id="{6924413D-CDFE-66BE-6962-BAB6AE9B9C26}"/>
              </a:ext>
            </a:extLst>
          </p:cNvPr>
          <p:cNvSpPr txBox="1"/>
          <p:nvPr/>
        </p:nvSpPr>
        <p:spPr>
          <a:xfrm>
            <a:off x="8138160" y="56293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79" name="Text 12">
            <a:extLst>
              <a:ext uri="{FF2B5EF4-FFF2-40B4-BE49-F238E27FC236}">
                <a16:creationId xmlns:a16="http://schemas.microsoft.com/office/drawing/2014/main" id="{EC5FA653-F698-077D-7A01-B5189C334340}"/>
              </a:ext>
            </a:extLst>
          </p:cNvPr>
          <p:cNvSpPr txBox="1"/>
          <p:nvPr/>
        </p:nvSpPr>
        <p:spPr>
          <a:xfrm>
            <a:off x="8138160" y="6241971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81" name="Text 12">
            <a:extLst>
              <a:ext uri="{FF2B5EF4-FFF2-40B4-BE49-F238E27FC236}">
                <a16:creationId xmlns:a16="http://schemas.microsoft.com/office/drawing/2014/main" id="{41DCE062-5B4C-C412-3CE9-A64649075C62}"/>
              </a:ext>
            </a:extLst>
          </p:cNvPr>
          <p:cNvSpPr txBox="1"/>
          <p:nvPr/>
        </p:nvSpPr>
        <p:spPr>
          <a:xfrm>
            <a:off x="9098280" y="563620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83" name="Text 12">
            <a:extLst>
              <a:ext uri="{FF2B5EF4-FFF2-40B4-BE49-F238E27FC236}">
                <a16:creationId xmlns:a16="http://schemas.microsoft.com/office/drawing/2014/main" id="{4656C2A8-53B5-E9C4-752C-CDCB4A2D7395}"/>
              </a:ext>
            </a:extLst>
          </p:cNvPr>
          <p:cNvSpPr txBox="1"/>
          <p:nvPr/>
        </p:nvSpPr>
        <p:spPr>
          <a:xfrm>
            <a:off x="9098280" y="623702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60" name="Text 11">
            <a:extLst>
              <a:ext uri="{FF2B5EF4-FFF2-40B4-BE49-F238E27FC236}">
                <a16:creationId xmlns:a16="http://schemas.microsoft.com/office/drawing/2014/main" id="{7990392D-75F2-A292-E9AA-44D39A072B89}"/>
              </a:ext>
            </a:extLst>
          </p:cNvPr>
          <p:cNvSpPr txBox="1"/>
          <p:nvPr/>
        </p:nvSpPr>
        <p:spPr>
          <a:xfrm>
            <a:off x="7178040" y="390172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</a:rPr>
              <a:t>ONE MONTH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64" name="Text 11">
            <a:extLst>
              <a:ext uri="{FF2B5EF4-FFF2-40B4-BE49-F238E27FC236}">
                <a16:creationId xmlns:a16="http://schemas.microsoft.com/office/drawing/2014/main" id="{7F31ED34-BFA1-9C99-AD98-ECCE85531E15}"/>
              </a:ext>
            </a:extLst>
          </p:cNvPr>
          <p:cNvSpPr txBox="1"/>
          <p:nvPr/>
        </p:nvSpPr>
        <p:spPr>
          <a:xfrm>
            <a:off x="8229600" y="3896746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</a:rPr>
              <a:t>THREE MONTH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68" name="Text 11">
            <a:extLst>
              <a:ext uri="{FF2B5EF4-FFF2-40B4-BE49-F238E27FC236}">
                <a16:creationId xmlns:a16="http://schemas.microsoft.com/office/drawing/2014/main" id="{4058044B-16FC-8378-E850-D579814A2F9F}"/>
              </a:ext>
            </a:extLst>
          </p:cNvPr>
          <p:cNvSpPr txBox="1"/>
          <p:nvPr/>
        </p:nvSpPr>
        <p:spPr>
          <a:xfrm>
            <a:off x="9176004" y="3897400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</a:rPr>
              <a:t>SIX MONTH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74" name="Text 38">
            <a:extLst>
              <a:ext uri="{FF2B5EF4-FFF2-40B4-BE49-F238E27FC236}">
                <a16:creationId xmlns:a16="http://schemas.microsoft.com/office/drawing/2014/main" id="{AA89DAAB-2493-0E0B-9D80-2ED1FCD26419}"/>
              </a:ext>
            </a:extLst>
          </p:cNvPr>
          <p:cNvSpPr txBox="1"/>
          <p:nvPr/>
        </p:nvSpPr>
        <p:spPr>
          <a:xfrm>
            <a:off x="4636008" y="4289991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 err="1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Homescreen</a:t>
            </a: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Pop-Up</a:t>
            </a:r>
            <a:endParaRPr lang="en-US" sz="105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08DA349E-BCB2-F4B4-CC2F-74CCBEE00278}"/>
              </a:ext>
            </a:extLst>
          </p:cNvPr>
          <p:cNvSpPr txBox="1"/>
          <p:nvPr/>
        </p:nvSpPr>
        <p:spPr>
          <a:xfrm>
            <a:off x="4636008" y="4509447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Pops up after 6 seconds</a:t>
            </a:r>
            <a:endParaRPr lang="en-US" sz="9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15F5A787-3BAF-4E77-3907-65A90A4DBCCF}"/>
              </a:ext>
            </a:extLst>
          </p:cNvPr>
          <p:cNvSpPr txBox="1"/>
          <p:nvPr/>
        </p:nvSpPr>
        <p:spPr>
          <a:xfrm>
            <a:off x="717804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£1,200</a:t>
            </a:r>
            <a:endParaRPr lang="en-US" sz="1200" dirty="0"/>
          </a:p>
        </p:txBody>
      </p:sp>
      <p:sp>
        <p:nvSpPr>
          <p:cNvPr id="85" name="Text 41">
            <a:extLst>
              <a:ext uri="{FF2B5EF4-FFF2-40B4-BE49-F238E27FC236}">
                <a16:creationId xmlns:a16="http://schemas.microsoft.com/office/drawing/2014/main" id="{F0757907-6C33-CEB3-4FE1-FEDA38A03658}"/>
              </a:ext>
            </a:extLst>
          </p:cNvPr>
          <p:cNvSpPr txBox="1"/>
          <p:nvPr/>
        </p:nvSpPr>
        <p:spPr>
          <a:xfrm>
            <a:off x="813816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£2,700</a:t>
            </a:r>
            <a:endParaRPr lang="en-US" sz="1200" dirty="0"/>
          </a:p>
        </p:txBody>
      </p:sp>
      <p:sp>
        <p:nvSpPr>
          <p:cNvPr id="87" name="Text 42">
            <a:extLst>
              <a:ext uri="{FF2B5EF4-FFF2-40B4-BE49-F238E27FC236}">
                <a16:creationId xmlns:a16="http://schemas.microsoft.com/office/drawing/2014/main" id="{CFDCD25F-A011-B0EC-9842-3BB15F3F7550}"/>
              </a:ext>
            </a:extLst>
          </p:cNvPr>
          <p:cNvSpPr txBox="1"/>
          <p:nvPr/>
        </p:nvSpPr>
        <p:spPr>
          <a:xfrm>
            <a:off x="9098280" y="4326567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51B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£3,600</a:t>
            </a:r>
            <a:endParaRPr lang="en-US" sz="1200" dirty="0"/>
          </a:p>
        </p:txBody>
      </p:sp>
      <p:sp>
        <p:nvSpPr>
          <p:cNvPr id="89" name="Shape 43">
            <a:extLst>
              <a:ext uri="{FF2B5EF4-FFF2-40B4-BE49-F238E27FC236}">
                <a16:creationId xmlns:a16="http://schemas.microsoft.com/office/drawing/2014/main" id="{4DB912EF-00B5-660A-B397-199C3E93F76F}"/>
              </a:ext>
            </a:extLst>
          </p:cNvPr>
          <p:cNvSpPr/>
          <p:nvPr/>
        </p:nvSpPr>
        <p:spPr>
          <a:xfrm>
            <a:off x="4434840" y="4738047"/>
            <a:ext cx="568756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12">
            <a:extLst>
              <a:ext uri="{FF2B5EF4-FFF2-40B4-BE49-F238E27FC236}">
                <a16:creationId xmlns:a16="http://schemas.microsoft.com/office/drawing/2014/main" id="{DF5F0300-A0C6-6207-72A0-1EA0EC0BFFD0}"/>
              </a:ext>
            </a:extLst>
          </p:cNvPr>
          <p:cNvSpPr txBox="1"/>
          <p:nvPr/>
        </p:nvSpPr>
        <p:spPr>
          <a:xfrm>
            <a:off x="8138160" y="452257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51B6E"/>
              </a:solidFill>
            </a:endParaRPr>
          </a:p>
        </p:txBody>
      </p:sp>
      <p:sp>
        <p:nvSpPr>
          <p:cNvPr id="93" name="Text 12">
            <a:extLst>
              <a:ext uri="{FF2B5EF4-FFF2-40B4-BE49-F238E27FC236}">
                <a16:creationId xmlns:a16="http://schemas.microsoft.com/office/drawing/2014/main" id="{C742169E-221E-250E-9E0F-9D636C87D55E}"/>
              </a:ext>
            </a:extLst>
          </p:cNvPr>
          <p:cNvSpPr txBox="1"/>
          <p:nvPr/>
        </p:nvSpPr>
        <p:spPr>
          <a:xfrm>
            <a:off x="9098280" y="4515383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800" dirty="0">
              <a:solidFill>
                <a:srgbClr val="151B6E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">
            <a:extLst>
              <a:ext uri="{FF2B5EF4-FFF2-40B4-BE49-F238E27FC236}">
                <a16:creationId xmlns:a16="http://schemas.microsoft.com/office/drawing/2014/main" id="{FA20A9C2-DDC9-8FEA-3501-815EC71930AC}"/>
              </a:ext>
            </a:extLst>
          </p:cNvPr>
          <p:cNvSpPr/>
          <p:nvPr/>
        </p:nvSpPr>
        <p:spPr>
          <a:xfrm>
            <a:off x="566928" y="4833854"/>
            <a:ext cx="3566160" cy="1115568"/>
          </a:xfrm>
          <a:prstGeom prst="rect">
            <a:avLst/>
          </a:prstGeom>
          <a:solidFill>
            <a:srgbClr val="151B6E"/>
          </a:solidFill>
          <a:ln w="1270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566928" y="6903720"/>
            <a:ext cx="9555480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 txBox="1"/>
          <p:nvPr/>
        </p:nvSpPr>
        <p:spPr>
          <a:xfrm>
            <a:off x="566928" y="7013448"/>
            <a:ext cx="5943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6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SMART SME   ·   WHAT RESULTS YOU GET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8842248" y="701344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kern="0" spc="160" dirty="0">
                <a:solidFill>
                  <a:srgbClr val="6B7A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7</a:t>
            </a:r>
            <a:endParaRPr lang="en-US" sz="85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754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kern="0" spc="220" dirty="0">
                <a:solidFill>
                  <a:srgbClr val="484D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RESULTS YOU GET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786384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</a:t>
            </a:r>
            <a:endParaRPr lang="en-US" sz="3000" dirty="0"/>
          </a:p>
          <a:p>
            <a:pPr marL="0" indent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back.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1" y="5019199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A9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WHEN YOU GET A REPORT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103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B3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Within 7 days of your campaign finishing, you’ll receive a full performance report showing impressions, open rate and click-throughs to your website.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27531" y="5281562"/>
            <a:ext cx="3090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7 working days of the send.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434840" y="1143857"/>
            <a:ext cx="5687568" cy="384048"/>
          </a:xfrm>
          <a:prstGeom prst="rect">
            <a:avLst/>
          </a:prstGeom>
          <a:solidFill>
            <a:srgbClr val="151B6E"/>
          </a:solidFill>
          <a:ln w="12700">
            <a:solidFill>
              <a:srgbClr val="151B6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 txBox="1"/>
          <p:nvPr/>
        </p:nvSpPr>
        <p:spPr>
          <a:xfrm>
            <a:off x="4636008" y="124444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6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8842248" y="1244441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160" dirty="0">
                <a:solidFill>
                  <a:srgbClr val="A9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numbers are an average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434840" y="1527905"/>
            <a:ext cx="5687568" cy="31089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 txBox="1"/>
          <p:nvPr/>
        </p:nvSpPr>
        <p:spPr>
          <a:xfrm>
            <a:off x="4636008" y="1610201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 CAMPAIGN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636008" y="1948529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1957673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Inboxes it actually reached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8659368" y="1939385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3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18,765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34840" y="2231993"/>
            <a:ext cx="568756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7"/>
          <p:cNvSpPr txBox="1"/>
          <p:nvPr/>
        </p:nvSpPr>
        <p:spPr>
          <a:xfrm>
            <a:off x="4636008" y="2369153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opens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217920" y="2378297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opened, counted once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8659368" y="2360009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3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43.9%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34840" y="2652617"/>
            <a:ext cx="568756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Text 31"/>
          <p:cNvSpPr txBox="1"/>
          <p:nvPr/>
        </p:nvSpPr>
        <p:spPr>
          <a:xfrm>
            <a:off x="4636008" y="2789777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clicks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798921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who clicked, counted once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659368" y="2780633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3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5.6%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434840" y="3073241"/>
            <a:ext cx="568756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35"/>
          <p:cNvSpPr txBox="1"/>
          <p:nvPr/>
        </p:nvSpPr>
        <p:spPr>
          <a:xfrm>
            <a:off x="4636008" y="3210401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to open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321954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 those who opened, who then clicked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659368" y="3201257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3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12.8%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434840" y="3493865"/>
            <a:ext cx="568756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39"/>
          <p:cNvSpPr txBox="1"/>
          <p:nvPr/>
        </p:nvSpPr>
        <p:spPr>
          <a:xfrm>
            <a:off x="4636008" y="3631025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Unsubscribes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217920" y="3640169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 the list after your send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659368" y="3621881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3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0.07%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434840" y="3914489"/>
            <a:ext cx="568756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Shape 47"/>
          <p:cNvSpPr/>
          <p:nvPr/>
        </p:nvSpPr>
        <p:spPr>
          <a:xfrm>
            <a:off x="4434840" y="4067322"/>
            <a:ext cx="5687568" cy="310896"/>
          </a:xfrm>
          <a:prstGeom prst="rect">
            <a:avLst/>
          </a:prstGeom>
          <a:solidFill>
            <a:srgbClr val="F1F1F6"/>
          </a:solidFill>
          <a:ln w="12700">
            <a:solidFill>
              <a:srgbClr val="F1F1F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0" name="Text 48"/>
          <p:cNvSpPr txBox="1"/>
          <p:nvPr/>
        </p:nvSpPr>
        <p:spPr>
          <a:xfrm>
            <a:off x="4636008" y="414961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151B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THE SITE</a:t>
            </a:r>
            <a:endParaRPr lang="en-US" sz="800" dirty="0"/>
          </a:p>
        </p:txBody>
      </p:sp>
      <p:sp>
        <p:nvSpPr>
          <p:cNvPr id="51" name="Text 49"/>
          <p:cNvSpPr txBox="1"/>
          <p:nvPr/>
        </p:nvSpPr>
        <p:spPr>
          <a:xfrm>
            <a:off x="4636008" y="448794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Total Visits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6217920" y="449709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impressions on your content</a:t>
            </a:r>
            <a:endParaRPr lang="en-US" sz="950" dirty="0"/>
          </a:p>
        </p:txBody>
      </p:sp>
      <p:sp>
        <p:nvSpPr>
          <p:cNvPr id="53" name="Text 51"/>
          <p:cNvSpPr txBox="1"/>
          <p:nvPr/>
        </p:nvSpPr>
        <p:spPr>
          <a:xfrm>
            <a:off x="8659368" y="447880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3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41,671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434840" y="4771410"/>
            <a:ext cx="568756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5" name="Text 53"/>
          <p:cNvSpPr txBox="1"/>
          <p:nvPr/>
        </p:nvSpPr>
        <p:spPr>
          <a:xfrm>
            <a:off x="4636007" y="4908570"/>
            <a:ext cx="153926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0A0C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Unique Visitors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217920" y="491771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6B7A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Unique users who saw your content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8659368" y="489942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E3E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32,592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434840" y="5192034"/>
            <a:ext cx="5687568" cy="0"/>
          </a:xfrm>
          <a:prstGeom prst="line">
            <a:avLst/>
          </a:prstGeom>
          <a:noFill/>
          <a:ln w="9525">
            <a:solidFill>
              <a:srgbClr val="DADBE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51B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C:/Users/CIMLTD~1/AppData/Local/Temp/claude/C--Users-CIM-Ltd--claude/ab747c79-736f-42fc-8062-1a21d89ca420/scratchpad/pack-assets/wordmark-reversed@4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2107214" cy="882396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66928" y="22860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40" dirty="0">
                <a:solidFill>
                  <a:srgbClr val="A9B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ADVERTISE WITH US</a:t>
            </a:r>
            <a:endParaRPr lang="en-US" sz="950" dirty="0"/>
          </a:p>
        </p:txBody>
      </p:sp>
      <p:sp>
        <p:nvSpPr>
          <p:cNvPr id="5" name="Text 1"/>
          <p:cNvSpPr txBox="1"/>
          <p:nvPr/>
        </p:nvSpPr>
        <p:spPr>
          <a:xfrm>
            <a:off x="566928" y="2596896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in touch.</a:t>
            </a:r>
            <a:endParaRPr lang="en-US" sz="4000" dirty="0"/>
          </a:p>
        </p:txBody>
      </p:sp>
      <p:sp>
        <p:nvSpPr>
          <p:cNvPr id="6" name="Text 2"/>
          <p:cNvSpPr txBox="1"/>
          <p:nvPr/>
        </p:nvSpPr>
        <p:spPr>
          <a:xfrm>
            <a:off x="566928" y="3493008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EDE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us who you are trying to reach and what you want it to do, and we will come back with a plan, availability and a price.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66928" y="45262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487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ADVERTISING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2487168" y="44897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jb@smartsme.co.uk</a:t>
            </a:r>
            <a:endParaRPr lang="en-US" sz="1250" dirty="0"/>
          </a:p>
        </p:txBody>
      </p:sp>
      <p:sp>
        <p:nvSpPr>
          <p:cNvPr id="9" name="Text 5"/>
          <p:cNvSpPr txBox="1"/>
          <p:nvPr/>
        </p:nvSpPr>
        <p:spPr>
          <a:xfrm>
            <a:off x="566928" y="5093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487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US A STORY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2487168" y="5056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smartsme.co.uk/submit-news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566013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80" dirty="0">
                <a:solidFill>
                  <a:srgbClr val="8487B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SUBSCRIBE FREE</a:t>
            </a:r>
            <a:endParaRPr lang="en-US" sz="800" dirty="0"/>
          </a:p>
        </p:txBody>
      </p:sp>
      <p:sp>
        <p:nvSpPr>
          <p:cNvPr id="12" name="Text 8"/>
          <p:cNvSpPr txBox="1"/>
          <p:nvPr/>
        </p:nvSpPr>
        <p:spPr>
          <a:xfrm>
            <a:off x="2487168" y="5623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smartsme.co.uk/newsletter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66928" y="6473952"/>
            <a:ext cx="5394960" cy="0"/>
          </a:xfrm>
          <a:prstGeom prst="line">
            <a:avLst/>
          </a:prstGeom>
          <a:noFill/>
          <a:ln w="9525">
            <a:solidFill>
              <a:srgbClr val="44498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 txBox="1"/>
          <p:nvPr/>
        </p:nvSpPr>
        <p:spPr>
          <a:xfrm>
            <a:off x="566928" y="6638544"/>
            <a:ext cx="5394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10" dirty="0">
                <a:solidFill>
                  <a:srgbClr val="A3A5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PUBLISHED BY  ·  COGENT MULTIMEDIA LTD, 5 JUBILEE WAY, FAVERSHAM, KENT</a:t>
            </a:r>
            <a:endParaRPr lang="en-US" sz="750" dirty="0"/>
          </a:p>
        </p:txBody>
      </p:sp>
      <p:pic>
        <p:nvPicPr>
          <p:cNvPr id="15" name="Picture 14" descr="Why Is There a Lack of Options for SME and Small Corporate Banking?">
            <a:extLst>
              <a:ext uri="{FF2B5EF4-FFF2-40B4-BE49-F238E27FC236}">
                <a16:creationId xmlns:a16="http://schemas.microsoft.com/office/drawing/2014/main" id="{DF4E45AE-FE8F-1C6E-532A-AF47E1617F3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72"/>
          <a:stretch>
            <a:fillRect/>
          </a:stretch>
        </p:blipFill>
        <p:spPr>
          <a:xfrm>
            <a:off x="6053328" y="0"/>
            <a:ext cx="4635310" cy="75451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mbr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1000</Words>
  <Application>Microsoft Office PowerPoint</Application>
  <PresentationFormat>Custom</PresentationFormat>
  <Paragraphs>248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Cogent Multimedia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SME, advertiser pack</dc:title>
  <dc:subject>PptxGenJS Presentation</dc:subject>
  <dc:creator>Cogent Multimedia Ltd</dc:creator>
  <cp:lastModifiedBy>James Burke</cp:lastModifiedBy>
  <cp:revision>7</cp:revision>
  <dcterms:created xsi:type="dcterms:W3CDTF">2026-10-19T15:33:24Z</dcterms:created>
  <dcterms:modified xsi:type="dcterms:W3CDTF">2026-10-20T11:12:19Z</dcterms:modified>
</cp:coreProperties>
</file>