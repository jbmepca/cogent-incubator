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E63"/>
    <a:srgbClr val="F1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3" d="100"/>
          <a:sy n="193" d="100"/>
        </p:scale>
        <p:origin x="93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5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Subscribers: Mailchimp, subscribed members on 20 Oct 2026. Open and click rates: pooled across all 14 issues sent to this list. Visits: GA4 sessions,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is the current list size. Rates pooled across 14 issues. Visits and unique visitors: GA4 sessions and total users,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b@dentalbusinessnews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2230114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926080" y="56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8DB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ADVERTISER PACK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2926080" y="804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819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/ 27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886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
</a:t>
            </a:r>
            <a:r>
              <a:rPr lang="en-US" sz="4600" b="1" dirty="0">
                <a:solidFill>
                  <a:srgbClr val="8DB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buy.</a:t>
            </a:r>
            <a:endParaRPr lang="en-US" sz="4600" dirty="0"/>
          </a:p>
        </p:txBody>
      </p:sp>
      <p:sp>
        <p:nvSpPr>
          <p:cNvPr id="7" name="Shape 3"/>
          <p:cNvSpPr/>
          <p:nvPr/>
        </p:nvSpPr>
        <p:spPr>
          <a:xfrm>
            <a:off x="566928" y="6199632"/>
            <a:ext cx="5394960" cy="0"/>
          </a:xfrm>
          <a:prstGeom prst="line">
            <a:avLst/>
          </a:prstGeom>
          <a:noFill/>
          <a:ln w="9525">
            <a:solidFill>
              <a:srgbClr val="3F577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566928" y="6364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DE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people who run, buy and fund UK vans, trucks and company cars.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6382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A1A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THEFLEETMAGAZINE.CO.UK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819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LTD</a:t>
            </a:r>
            <a:endParaRPr lang="en-US" sz="850" dirty="0"/>
          </a:p>
        </p:txBody>
      </p:sp>
      <p:pic>
        <p:nvPicPr>
          <p:cNvPr id="11" name="Picture 10" descr="Fleet Management - Truck assets system">
            <a:extLst>
              <a:ext uri="{FF2B5EF4-FFF2-40B4-BE49-F238E27FC236}">
                <a16:creationId xmlns:a16="http://schemas.microsoft.com/office/drawing/2014/main" id="{F2797F22-D3C8-FC92-39AC-41EFBC84D0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617" t="-108" r="21539" b="108"/>
          <a:stretch>
            <a:fillRect/>
          </a:stretch>
        </p:blipFill>
        <p:spPr>
          <a:xfrm>
            <a:off x="6291072" y="-8173"/>
            <a:ext cx="4397566" cy="75710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FLEET MAGAZINE   ·   WHO YOU REACH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YOU REACH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you’re getting in front of.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Fleet Magazine goes to fleet directors, fleet managers and transport managers, and the finance and procurement people who share their decisions.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20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BUY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3858768"/>
            <a:ext cx="91440" cy="9144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59536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leasing, contract hire and funding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69664"/>
            <a:ext cx="91440" cy="9144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59536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Telematics, tracking and fleet software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91440" cy="9144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59536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charging and electrification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791456"/>
            <a:ext cx="91440" cy="9144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59536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cards, tyres and maintenance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02352"/>
            <a:ext cx="91440" cy="9144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59536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insurance and risk management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413248"/>
            <a:ext cx="91440" cy="9144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859536" y="5340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training, compliance and recruitment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475488"/>
            <a:ext cx="4224528" cy="6035040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263640" y="76809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LIST TODAY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13,259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152144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fleet decision makers subscribed to the newsletter.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377440"/>
            <a:ext cx="349300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26364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28,472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542032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visits to The Fleet Magazine website.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349300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263640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52.0%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931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open rate against an industry average of 20%.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157216"/>
            <a:ext cx="349300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26364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5.96%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321808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click rate against an industry average of 2%.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READS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reads </a:t>
            </a:r>
            <a:r>
              <a:rPr lang="en-US" sz="30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Fleet Magazine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sit at manager level or above. 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097280" cy="804672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9494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or C-suite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55648" y="1783080"/>
            <a:ext cx="1097280" cy="804672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188366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or head of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44368" y="1783080"/>
            <a:ext cx="1097280" cy="804672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07238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33088" y="1783080"/>
            <a:ext cx="1097280" cy="804672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26110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6110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Engineers, admin and planners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788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COMMON ROLES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manager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590288" y="3044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3467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manager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15768" y="3364992"/>
            <a:ext cx="1828800" cy="146304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15768" y="3364992"/>
            <a:ext cx="1676400" cy="146304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590288" y="3346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6484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director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15768" y="3666744"/>
            <a:ext cx="1828800" cy="146304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715768" y="3666744"/>
            <a:ext cx="762000" cy="146304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590288" y="36484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Depot manager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15768" y="3968496"/>
            <a:ext cx="1828800" cy="146304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715768" y="3968496"/>
            <a:ext cx="685800" cy="146304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590288" y="39502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251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and finance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15768" y="4270248"/>
            <a:ext cx="1828800" cy="146304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715768" y="4270248"/>
            <a:ext cx="609600" cy="146304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590288" y="4251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4553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engineer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15768" y="4572000"/>
            <a:ext cx="1828800" cy="146304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715768" y="4572000"/>
            <a:ext cx="457200" cy="146304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590288" y="4553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532120" y="1783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THEY ARE</a:t>
            </a:r>
            <a:endParaRPr lang="en-US" sz="85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26" y="2029968"/>
            <a:ext cx="4255477" cy="2212848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5532120" y="4352544"/>
            <a:ext cx="1438656" cy="45720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 txBox="1"/>
          <p:nvPr/>
        </p:nvSpPr>
        <p:spPr>
          <a:xfrm>
            <a:off x="5532120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532120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and Ireland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7062216" y="4352544"/>
            <a:ext cx="1438656" cy="45720"/>
          </a:xfrm>
          <a:prstGeom prst="rect">
            <a:avLst/>
          </a:prstGeom>
          <a:solidFill>
            <a:srgbClr val="576C86"/>
          </a:solidFill>
          <a:ln w="12700">
            <a:solidFill>
              <a:srgbClr val="576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 txBox="1"/>
          <p:nvPr/>
        </p:nvSpPr>
        <p:spPr>
          <a:xfrm>
            <a:off x="7062216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7062216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8592312" y="4352544"/>
            <a:ext cx="1438656" cy="45720"/>
          </a:xfrm>
          <a:prstGeom prst="rect">
            <a:avLst/>
          </a:prstGeom>
          <a:solidFill>
            <a:srgbClr val="8796A9"/>
          </a:solidFill>
          <a:ln w="12700">
            <a:solidFill>
              <a:srgbClr val="8796A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 txBox="1"/>
          <p:nvPr/>
        </p:nvSpPr>
        <p:spPr>
          <a:xfrm>
            <a:off x="8592312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8592312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world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66928" y="5074920"/>
            <a:ext cx="3093720" cy="0"/>
          </a:xfrm>
          <a:prstGeom prst="line">
            <a:avLst/>
          </a:prstGeom>
          <a:noFill/>
          <a:ln w="254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 txBox="1"/>
          <p:nvPr/>
        </p:nvSpPr>
        <p:spPr>
          <a:xfrm>
            <a:off x="56692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 SIZE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25 vehicles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2212848" y="5495544"/>
            <a:ext cx="561975" cy="12801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 txBox="1"/>
          <p:nvPr/>
        </p:nvSpPr>
        <p:spPr>
          <a:xfrm>
            <a:off x="315772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50" dirty="0"/>
          </a:p>
        </p:txBody>
      </p:sp>
      <p:sp>
        <p:nvSpPr>
          <p:cNvPr id="59" name="Text 56"/>
          <p:cNvSpPr txBox="1"/>
          <p:nvPr/>
        </p:nvSpPr>
        <p:spPr>
          <a:xfrm>
            <a:off x="56692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to 99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2212848" y="5742432"/>
            <a:ext cx="899160" cy="12801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2212848" y="5742432"/>
            <a:ext cx="899160" cy="12801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 txBox="1"/>
          <p:nvPr/>
        </p:nvSpPr>
        <p:spPr>
          <a:xfrm>
            <a:off x="315772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850" dirty="0"/>
          </a:p>
        </p:txBody>
      </p:sp>
      <p:sp>
        <p:nvSpPr>
          <p:cNvPr id="63" name="Text 60"/>
          <p:cNvSpPr txBox="1"/>
          <p:nvPr/>
        </p:nvSpPr>
        <p:spPr>
          <a:xfrm>
            <a:off x="56692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to 499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212848" y="5989320"/>
            <a:ext cx="899160" cy="12801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2212848" y="5989320"/>
            <a:ext cx="842962" cy="12801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 txBox="1"/>
          <p:nvPr/>
        </p:nvSpPr>
        <p:spPr>
          <a:xfrm>
            <a:off x="315772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56692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or more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212848" y="6236208"/>
            <a:ext cx="899160" cy="12801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>
            <a:off x="2212848" y="6236208"/>
            <a:ext cx="505777" cy="12801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 txBox="1"/>
          <p:nvPr/>
        </p:nvSpPr>
        <p:spPr>
          <a:xfrm>
            <a:off x="315772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3797808" y="5074920"/>
            <a:ext cx="3093720" cy="0"/>
          </a:xfrm>
          <a:prstGeom prst="line">
            <a:avLst/>
          </a:prstGeom>
          <a:noFill/>
          <a:ln w="254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 txBox="1"/>
          <p:nvPr/>
        </p:nvSpPr>
        <p:spPr>
          <a:xfrm>
            <a:off x="379780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TURNOVER</a:t>
            </a:r>
            <a:endParaRPr lang="en-US" sz="850" dirty="0"/>
          </a:p>
        </p:txBody>
      </p:sp>
      <p:sp>
        <p:nvSpPr>
          <p:cNvPr id="73" name="Text 70"/>
          <p:cNvSpPr txBox="1"/>
          <p:nvPr/>
        </p:nvSpPr>
        <p:spPr>
          <a:xfrm>
            <a:off x="379780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£10m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5443728" y="5495544"/>
            <a:ext cx="659384" cy="12801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 txBox="1"/>
          <p:nvPr/>
        </p:nvSpPr>
        <p:spPr>
          <a:xfrm>
            <a:off x="638860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379780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£10m to £50m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 txBox="1"/>
          <p:nvPr/>
        </p:nvSpPr>
        <p:spPr>
          <a:xfrm>
            <a:off x="638860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50" dirty="0"/>
          </a:p>
        </p:txBody>
      </p:sp>
      <p:sp>
        <p:nvSpPr>
          <p:cNvPr id="81" name="Text 78"/>
          <p:cNvSpPr txBox="1"/>
          <p:nvPr/>
        </p:nvSpPr>
        <p:spPr>
          <a:xfrm>
            <a:off x="379780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£50m to £250m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5443728" y="5989320"/>
            <a:ext cx="899160" cy="12801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5443728" y="5989320"/>
            <a:ext cx="839216" cy="12801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81"/>
          <p:cNvSpPr txBox="1"/>
          <p:nvPr/>
        </p:nvSpPr>
        <p:spPr>
          <a:xfrm>
            <a:off x="638860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850" dirty="0"/>
          </a:p>
        </p:txBody>
      </p:sp>
      <p:sp>
        <p:nvSpPr>
          <p:cNvPr id="85" name="Text 82"/>
          <p:cNvSpPr txBox="1"/>
          <p:nvPr/>
        </p:nvSpPr>
        <p:spPr>
          <a:xfrm>
            <a:off x="379780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£250m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5443728" y="6236208"/>
            <a:ext cx="899160" cy="12801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4"/>
          <p:cNvSpPr/>
          <p:nvPr/>
        </p:nvSpPr>
        <p:spPr>
          <a:xfrm>
            <a:off x="5443728" y="6236208"/>
            <a:ext cx="599440" cy="12801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5"/>
          <p:cNvSpPr txBox="1"/>
          <p:nvPr/>
        </p:nvSpPr>
        <p:spPr>
          <a:xfrm>
            <a:off x="638860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7028688" y="5074920"/>
            <a:ext cx="3093720" cy="0"/>
          </a:xfrm>
          <a:prstGeom prst="line">
            <a:avLst/>
          </a:prstGeom>
          <a:noFill/>
          <a:ln w="254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7"/>
          <p:cNvSpPr txBox="1"/>
          <p:nvPr/>
        </p:nvSpPr>
        <p:spPr>
          <a:xfrm>
            <a:off x="702868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</a:t>
            </a:r>
            <a:endParaRPr lang="en-US" sz="850" dirty="0"/>
          </a:p>
        </p:txBody>
      </p:sp>
      <p:sp>
        <p:nvSpPr>
          <p:cNvPr id="91" name="Text 88"/>
          <p:cNvSpPr txBox="1"/>
          <p:nvPr/>
        </p:nvSpPr>
        <p:spPr>
          <a:xfrm>
            <a:off x="702868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Haulage and logistics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91"/>
          <p:cNvSpPr txBox="1"/>
          <p:nvPr/>
        </p:nvSpPr>
        <p:spPr>
          <a:xfrm>
            <a:off x="961948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50" dirty="0"/>
          </a:p>
        </p:txBody>
      </p:sp>
      <p:sp>
        <p:nvSpPr>
          <p:cNvPr id="95" name="Text 92"/>
          <p:cNvSpPr txBox="1"/>
          <p:nvPr/>
        </p:nvSpPr>
        <p:spPr>
          <a:xfrm>
            <a:off x="702868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and trades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4"/>
          <p:cNvSpPr/>
          <p:nvPr/>
        </p:nvSpPr>
        <p:spPr>
          <a:xfrm>
            <a:off x="8674608" y="5742432"/>
            <a:ext cx="539496" cy="12801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5"/>
          <p:cNvSpPr txBox="1"/>
          <p:nvPr/>
        </p:nvSpPr>
        <p:spPr>
          <a:xfrm>
            <a:off x="961948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50" dirty="0"/>
          </a:p>
        </p:txBody>
      </p:sp>
      <p:sp>
        <p:nvSpPr>
          <p:cNvPr id="99" name="Text 96"/>
          <p:cNvSpPr txBox="1"/>
          <p:nvPr/>
        </p:nvSpPr>
        <p:spPr>
          <a:xfrm>
            <a:off x="702868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 and facilities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8674608" y="5989320"/>
            <a:ext cx="899160" cy="12801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8"/>
          <p:cNvSpPr/>
          <p:nvPr/>
        </p:nvSpPr>
        <p:spPr>
          <a:xfrm>
            <a:off x="8674608" y="5989320"/>
            <a:ext cx="419608" cy="12801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99"/>
          <p:cNvSpPr txBox="1"/>
          <p:nvPr/>
        </p:nvSpPr>
        <p:spPr>
          <a:xfrm>
            <a:off x="961948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850" dirty="0"/>
          </a:p>
        </p:txBody>
      </p:sp>
      <p:sp>
        <p:nvSpPr>
          <p:cNvPr id="103" name="Text 100"/>
          <p:cNvSpPr txBox="1"/>
          <p:nvPr/>
        </p:nvSpPr>
        <p:spPr>
          <a:xfrm>
            <a:off x="702868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sector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8674608" y="6236208"/>
            <a:ext cx="899160" cy="12801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2"/>
          <p:cNvSpPr/>
          <p:nvPr/>
        </p:nvSpPr>
        <p:spPr>
          <a:xfrm>
            <a:off x="8674608" y="6236208"/>
            <a:ext cx="359664" cy="12801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Text 103"/>
          <p:cNvSpPr txBox="1"/>
          <p:nvPr/>
        </p:nvSpPr>
        <p:spPr>
          <a:xfrm>
            <a:off x="961948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850" dirty="0"/>
          </a:p>
        </p:txBody>
      </p:sp>
      <p:sp>
        <p:nvSpPr>
          <p:cNvPr id="107" name="Text 104"/>
          <p:cNvSpPr txBox="1"/>
          <p:nvPr/>
        </p:nvSpPr>
        <p:spPr>
          <a:xfrm>
            <a:off x="7028688" y="64648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and distribution</a:t>
            </a:r>
            <a:endParaRPr lang="en-US" sz="850" dirty="0"/>
          </a:p>
        </p:txBody>
      </p:sp>
      <p:sp>
        <p:nvSpPr>
          <p:cNvPr id="108" name="Shape 105"/>
          <p:cNvSpPr/>
          <p:nvPr/>
        </p:nvSpPr>
        <p:spPr>
          <a:xfrm>
            <a:off x="8674608" y="6483096"/>
            <a:ext cx="899160" cy="12801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Shape 106"/>
          <p:cNvSpPr/>
          <p:nvPr/>
        </p:nvSpPr>
        <p:spPr>
          <a:xfrm>
            <a:off x="8674608" y="6483096"/>
            <a:ext cx="299720" cy="12801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Text 107"/>
          <p:cNvSpPr txBox="1"/>
          <p:nvPr/>
        </p:nvSpPr>
        <p:spPr>
          <a:xfrm>
            <a:off x="9619488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Text 1">
            <a:extLst>
              <a:ext uri="{FF2B5EF4-FFF2-40B4-BE49-F238E27FC236}">
                <a16:creationId xmlns:a16="http://schemas.microsoft.com/office/drawing/2014/main" id="{1408B188-332D-0247-B1AA-E48A7766FFE3}"/>
              </a:ext>
            </a:extLst>
          </p:cNvPr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FLEET MAGAZINE   ·   WHO READS</a:t>
            </a:r>
            <a:endParaRPr lang="en-US" sz="850" dirty="0"/>
          </a:p>
        </p:txBody>
      </p:sp>
      <p:sp>
        <p:nvSpPr>
          <p:cNvPr id="117" name="Text 2">
            <a:extLst>
              <a:ext uri="{FF2B5EF4-FFF2-40B4-BE49-F238E27FC236}">
                <a16:creationId xmlns:a16="http://schemas.microsoft.com/office/drawing/2014/main" id="{EA437D14-C611-4796-9406-B1EE7F3F7F50}"/>
              </a:ext>
            </a:extLst>
          </p:cNvPr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FLEET MAGAZINE   ·   WHAT YOU CAN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BUY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in.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format is digital. Our subscribers have requested to receive content from brands who are able to help their business.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BOOKING RUNS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08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tell us what channels you want to use.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47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529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confirm format, date and price in writing.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867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968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artwork, or copy and we build 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256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407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 it before anything goes out.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send the report on your campaign alone.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332471"/>
            <a:ext cx="2743200" cy="0"/>
          </a:xfrm>
          <a:prstGeom prst="line">
            <a:avLst/>
          </a:prstGeom>
          <a:noFill/>
          <a:ln w="28575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00600" y="1497063"/>
            <a:ext cx="1143000" cy="1600200"/>
          </a:xfrm>
          <a:prstGeom prst="rect">
            <a:avLst/>
          </a:prstGeom>
          <a:solidFill>
            <a:srgbClr val="F1F2F5"/>
          </a:solidFill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10328" y="1634223"/>
            <a:ext cx="914400" cy="914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10328" y="1817103"/>
            <a:ext cx="914400" cy="27432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910328" y="18811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910328" y="2201151"/>
            <a:ext cx="512064" cy="384048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95544" y="2201151"/>
            <a:ext cx="329184" cy="384048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495544" y="2320023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300×250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910328" y="2676639"/>
            <a:ext cx="548640" cy="18288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910328" y="2694927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728×90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910328" y="2932671"/>
            <a:ext cx="749808" cy="64008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09904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banners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across the whole site.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  ·  728×90  ·  300×250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26680" y="1332471"/>
            <a:ext cx="2743200" cy="0"/>
          </a:xfrm>
          <a:prstGeom prst="line">
            <a:avLst/>
          </a:prstGeom>
          <a:noFill/>
          <a:ln w="28575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726680" y="1497063"/>
            <a:ext cx="1143000" cy="1600200"/>
          </a:xfrm>
          <a:prstGeom prst="rect">
            <a:avLst/>
          </a:prstGeom>
          <a:solidFill>
            <a:srgbClr val="F1F2F5"/>
          </a:solidFill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836408" y="1634223"/>
            <a:ext cx="914400" cy="128016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36408" y="1871967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836408" y="1963407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836408" y="2054847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836408" y="2201151"/>
            <a:ext cx="914400" cy="347472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7836408" y="230173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Sponsored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836408" y="2658351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836408" y="2749791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836408" y="2841231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836408" y="2932671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902512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newsletter content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2512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 in our Monday Briefing, next to our editorial and labelled as sponsored.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72668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words  ·  logo  ·  one link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920223"/>
            <a:ext cx="2743200" cy="0"/>
          </a:xfrm>
          <a:prstGeom prst="line">
            <a:avLst/>
          </a:prstGeom>
          <a:noFill/>
          <a:ln w="28575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800600" y="4084815"/>
            <a:ext cx="1143000" cy="1600200"/>
          </a:xfrm>
          <a:prstGeom prst="rect">
            <a:avLst/>
          </a:prstGeom>
          <a:solidFill>
            <a:srgbClr val="F1F2F5"/>
          </a:solidFill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4910328" y="4221975"/>
            <a:ext cx="914400" cy="128016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910328" y="4404855"/>
            <a:ext cx="914400" cy="201168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910328" y="443228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910328" y="4715751"/>
            <a:ext cx="914400" cy="9144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910328" y="4862055"/>
            <a:ext cx="914400" cy="9144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910328" y="5008359"/>
            <a:ext cx="914400" cy="9144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910328" y="5154663"/>
            <a:ext cx="603504" cy="64008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910328" y="5355831"/>
            <a:ext cx="914400" cy="219456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4910328" y="539240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609904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09904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as the named sponsor of every issue of our Monday Briefing.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issue, or sponsor a series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726680" y="3920223"/>
            <a:ext cx="2743200" cy="0"/>
          </a:xfrm>
          <a:prstGeom prst="line">
            <a:avLst/>
          </a:prstGeom>
          <a:noFill/>
          <a:ln w="28575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7726680" y="4084815"/>
            <a:ext cx="1143000" cy="1600200"/>
          </a:xfrm>
          <a:prstGeom prst="rect">
            <a:avLst/>
          </a:prstGeom>
          <a:solidFill>
            <a:srgbClr val="F1F2F5"/>
          </a:solidFill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836408" y="4221975"/>
            <a:ext cx="914400" cy="128016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7836408" y="4441431"/>
            <a:ext cx="914400" cy="1115568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7836408" y="492606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email</a:t>
            </a:r>
            <a:endParaRPr lang="en-US" sz="600" dirty="0"/>
          </a:p>
        </p:txBody>
      </p:sp>
      <p:sp>
        <p:nvSpPr>
          <p:cNvPr id="67" name="Text 65"/>
          <p:cNvSpPr txBox="1"/>
          <p:nvPr/>
        </p:nvSpPr>
        <p:spPr>
          <a:xfrm>
            <a:off x="902512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 email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02512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email, sent to our subscribers. Nobody else in it. 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build it, or send finished HTML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FLEET MAGAZINE   ·   RATES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campaign.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of marketing experts can work with you to build bespoke campaigns to fit your advertising goals and strategies.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All marketing options are built to send our audience straight to your website with one easy click.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Whatever you chose, it’s designed to deliver traffic to you.  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0F2D52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04672" y="501673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DB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IT THROUGH</a:t>
            </a:r>
            <a:endParaRPr lang="en-US" sz="9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804672" y="525447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jb@thefleetmagazine.co.uk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638576"/>
            <a:ext cx="5687568" cy="38404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739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022624"/>
            <a:ext cx="5687568" cy="31089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636008" y="110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1443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Eshot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1662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message alone, nobody else in it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£750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2055896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2193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2412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 of the Monday Briefing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2833136"/>
            <a:ext cx="5687568" cy="31089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636008" y="2915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3253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article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3473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website and in the newsletter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848740"/>
            <a:ext cx="5687568" cy="31089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4636008" y="39310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636008" y="482291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Billboard, 970×250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504236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homepage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£2,100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34840" y="5270966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4636008" y="54081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Leaderboard, 728×90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636008" y="562758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site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£1,800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34840" y="5856182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636008" y="599334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MPU, 300×250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636008" y="621279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button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09828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34840" y="6541982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8842248" y="6587702"/>
            <a:ext cx="13971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rates exclude VAT</a:t>
            </a:r>
            <a:endParaRPr lang="en-US" sz="7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07DABE7-9D60-1518-AF66-C9A141C72B5C}"/>
              </a:ext>
            </a:extLst>
          </p:cNvPr>
          <p:cNvSpPr txBox="1"/>
          <p:nvPr/>
        </p:nvSpPr>
        <p:spPr>
          <a:xfrm>
            <a:off x="813816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51191E08-41FB-FCBA-F8D1-350FABD93E1B}"/>
              </a:ext>
            </a:extLst>
          </p:cNvPr>
          <p:cNvSpPr txBox="1"/>
          <p:nvPr/>
        </p:nvSpPr>
        <p:spPr>
          <a:xfrm>
            <a:off x="8138160" y="242036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A4804B29-3A9B-4FA8-5D54-76EE23B5C071}"/>
              </a:ext>
            </a:extLst>
          </p:cNvPr>
          <p:cNvSpPr txBox="1"/>
          <p:nvPr/>
        </p:nvSpPr>
        <p:spPr>
          <a:xfrm>
            <a:off x="8138160" y="34772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F540F2-61B2-8B41-2919-4BF409C0C26C}"/>
              </a:ext>
            </a:extLst>
          </p:cNvPr>
          <p:cNvSpPr txBox="1"/>
          <p:nvPr/>
        </p:nvSpPr>
        <p:spPr>
          <a:xfrm>
            <a:off x="909828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ABE8BC8-1EA4-D247-20CD-A0FC42E752B3}"/>
              </a:ext>
            </a:extLst>
          </p:cNvPr>
          <p:cNvSpPr txBox="1"/>
          <p:nvPr/>
        </p:nvSpPr>
        <p:spPr>
          <a:xfrm>
            <a:off x="9098280" y="2416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217B008C-DFFF-134E-4812-32C5CC1CDC4D}"/>
              </a:ext>
            </a:extLst>
          </p:cNvPr>
          <p:cNvSpPr txBox="1"/>
          <p:nvPr/>
        </p:nvSpPr>
        <p:spPr>
          <a:xfrm>
            <a:off x="9098280" y="34722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0C5EC0BE-3043-D061-C4F8-AA17149E0E31}"/>
              </a:ext>
            </a:extLst>
          </p:cNvPr>
          <p:cNvSpPr txBox="1"/>
          <p:nvPr/>
        </p:nvSpPr>
        <p:spPr>
          <a:xfrm>
            <a:off x="8138160" y="50554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D3673BB9-6A5E-2CE4-5007-5F8C61E8D3D9}"/>
              </a:ext>
            </a:extLst>
          </p:cNvPr>
          <p:cNvSpPr txBox="1"/>
          <p:nvPr/>
        </p:nvSpPr>
        <p:spPr>
          <a:xfrm>
            <a:off x="9098280" y="504830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6924413D-CDFE-66BE-6962-BAB6AE9B9C26}"/>
              </a:ext>
            </a:extLst>
          </p:cNvPr>
          <p:cNvSpPr txBox="1"/>
          <p:nvPr/>
        </p:nvSpPr>
        <p:spPr>
          <a:xfrm>
            <a:off x="8138160" y="56293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EC5FA653-F698-077D-7A01-B5189C334340}"/>
              </a:ext>
            </a:extLst>
          </p:cNvPr>
          <p:cNvSpPr txBox="1"/>
          <p:nvPr/>
        </p:nvSpPr>
        <p:spPr>
          <a:xfrm>
            <a:off x="8138160" y="6241971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41DCE062-5B4C-C412-3CE9-A64649075C62}"/>
              </a:ext>
            </a:extLst>
          </p:cNvPr>
          <p:cNvSpPr txBox="1"/>
          <p:nvPr/>
        </p:nvSpPr>
        <p:spPr>
          <a:xfrm>
            <a:off x="9098280" y="56362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4656C2A8-53B5-E9C4-752C-CDCB4A2D7395}"/>
              </a:ext>
            </a:extLst>
          </p:cNvPr>
          <p:cNvSpPr txBox="1"/>
          <p:nvPr/>
        </p:nvSpPr>
        <p:spPr>
          <a:xfrm>
            <a:off x="9098280" y="62370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990392D-75F2-A292-E9AA-44D39A072B89}"/>
              </a:ext>
            </a:extLst>
          </p:cNvPr>
          <p:cNvSpPr txBox="1"/>
          <p:nvPr/>
        </p:nvSpPr>
        <p:spPr>
          <a:xfrm>
            <a:off x="7178040" y="390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</a:rPr>
              <a:t>ONE MONTH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F31ED34-BFA1-9C99-AD98-ECCE85531E15}"/>
              </a:ext>
            </a:extLst>
          </p:cNvPr>
          <p:cNvSpPr txBox="1"/>
          <p:nvPr/>
        </p:nvSpPr>
        <p:spPr>
          <a:xfrm>
            <a:off x="8229600" y="389674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</a:rPr>
              <a:t>THREE MONTH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4058044B-16FC-8378-E850-D579814A2F9F}"/>
              </a:ext>
            </a:extLst>
          </p:cNvPr>
          <p:cNvSpPr txBox="1"/>
          <p:nvPr/>
        </p:nvSpPr>
        <p:spPr>
          <a:xfrm>
            <a:off x="9176004" y="3897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</a:rPr>
              <a:t>SIX MONTH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AA89DAAB-2493-0E0B-9D80-2ED1FCD26419}"/>
              </a:ext>
            </a:extLst>
          </p:cNvPr>
          <p:cNvSpPr txBox="1"/>
          <p:nvPr/>
        </p:nvSpPr>
        <p:spPr>
          <a:xfrm>
            <a:off x="4636008" y="4289991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Homescreen</a:t>
            </a: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Pop-Up</a:t>
            </a:r>
            <a:endParaRPr lang="en-US" sz="105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8DA349E-BCB2-F4B4-CC2F-74CCBEE00278}"/>
              </a:ext>
            </a:extLst>
          </p:cNvPr>
          <p:cNvSpPr txBox="1"/>
          <p:nvPr/>
        </p:nvSpPr>
        <p:spPr>
          <a:xfrm>
            <a:off x="4636008" y="450944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Pops up after 6 seconds</a:t>
            </a:r>
            <a:endParaRPr lang="en-US" sz="9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15F5A787-3BAF-4E77-3907-65A90A4DBCCF}"/>
              </a:ext>
            </a:extLst>
          </p:cNvPr>
          <p:cNvSpPr txBox="1"/>
          <p:nvPr/>
        </p:nvSpPr>
        <p:spPr>
          <a:xfrm>
            <a:off x="717804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F0757907-6C33-CEB3-4FE1-FEDA38A03658}"/>
              </a:ext>
            </a:extLst>
          </p:cNvPr>
          <p:cNvSpPr txBox="1"/>
          <p:nvPr/>
        </p:nvSpPr>
        <p:spPr>
          <a:xfrm>
            <a:off x="813816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£2,700</a:t>
            </a:r>
            <a:endParaRPr lang="en-US" sz="12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CFDCD25F-A011-B0EC-9842-3BB15F3F7550}"/>
              </a:ext>
            </a:extLst>
          </p:cNvPr>
          <p:cNvSpPr txBox="1"/>
          <p:nvPr/>
        </p:nvSpPr>
        <p:spPr>
          <a:xfrm>
            <a:off x="909828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£3,600</a:t>
            </a:r>
            <a:endParaRPr lang="en-US" sz="1200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4DB912EF-00B5-660A-B397-199C3E93F76F}"/>
              </a:ext>
            </a:extLst>
          </p:cNvPr>
          <p:cNvSpPr/>
          <p:nvPr/>
        </p:nvSpPr>
        <p:spPr>
          <a:xfrm>
            <a:off x="4434840" y="4738047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DF5F0300-A0C6-6207-72A0-1EA0EC0BFFD0}"/>
              </a:ext>
            </a:extLst>
          </p:cNvPr>
          <p:cNvSpPr txBox="1"/>
          <p:nvPr/>
        </p:nvSpPr>
        <p:spPr>
          <a:xfrm>
            <a:off x="8138160" y="452257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C742169E-221E-250E-9E0F-9D636C87D55E}"/>
              </a:ext>
            </a:extLst>
          </p:cNvPr>
          <p:cNvSpPr txBox="1"/>
          <p:nvPr/>
        </p:nvSpPr>
        <p:spPr>
          <a:xfrm>
            <a:off x="9098280" y="451538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">
            <a:extLst>
              <a:ext uri="{FF2B5EF4-FFF2-40B4-BE49-F238E27FC236}">
                <a16:creationId xmlns:a16="http://schemas.microsoft.com/office/drawing/2014/main" id="{FA20A9C2-DDC9-8FEA-3501-815EC71930AC}"/>
              </a:ext>
            </a:extLst>
          </p:cNvPr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0F2D52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FLEET MAGAZINE   ·   WHAT RESULTS YOU GET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RESULTS YOU GET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back.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1" y="5019199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DB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GET A REPORT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7 days of your campaign finishing, you’ll receive a full performance report showing impressions, open rate and click-throughs to your website.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1" y="528156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7 working days of the send.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1143857"/>
            <a:ext cx="5687568" cy="38404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636008" y="124444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842248" y="124444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8DB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numbers are an average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34840" y="1527905"/>
            <a:ext cx="5687568" cy="31089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161020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CAMPAIGN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194852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95767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Inboxes it actually reached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193938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13,259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231993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636008" y="236915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opens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3782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opened, counted once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236000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652617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636008" y="278977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clicks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79892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clicked, counted once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659368" y="278063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073241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636008" y="321040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21954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those who opened, who then clicked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659368" y="320125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11.5%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493865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636008" y="3631025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64016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the list after your send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659368" y="3621881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3914489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434840" y="4067322"/>
            <a:ext cx="5687568" cy="31089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636008" y="414961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SITE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636008" y="44879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Total Visits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49709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impressions on your content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659368" y="447880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28,472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34840" y="4771410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4636007" y="4908570"/>
            <a:ext cx="153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Unique Visitors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0" y="491771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users who saw your content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659368" y="489942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21,411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34840" y="5192034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2230114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286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8DB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 WITH US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touch.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493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E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who you are trying to reach and what you want it to do, and we will come back with a plan, availability and a price.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19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2487168" y="4489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jb@thefleetmagazine.co.uk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19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US A STORY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2487168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thefleetmagazine.co.uk/submit-news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660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19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FREE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2487168" y="5623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thefleetmagazine.co.uk/newsletter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6473952"/>
            <a:ext cx="5394960" cy="0"/>
          </a:xfrm>
          <a:prstGeom prst="line">
            <a:avLst/>
          </a:prstGeom>
          <a:noFill/>
          <a:ln w="9525">
            <a:solidFill>
              <a:srgbClr val="3F577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566928" y="66385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A1A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BY  ·  COGENT MULTIMEDIA LTD, 5 JUBILEE WAY, FAVERSHAM, KENT</a:t>
            </a:r>
            <a:endParaRPr lang="en-US" sz="750" dirty="0"/>
          </a:p>
        </p:txBody>
      </p:sp>
      <p:pic>
        <p:nvPicPr>
          <p:cNvPr id="15" name="Picture 14" descr="Fleet Management for UK Transport Operators | Lloyd Morgan Group">
            <a:extLst>
              <a:ext uri="{FF2B5EF4-FFF2-40B4-BE49-F238E27FC236}">
                <a16:creationId xmlns:a16="http://schemas.microsoft.com/office/drawing/2014/main" id="{8949201F-DE7A-A229-3755-A19EF0D651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986" r="17315"/>
          <a:stretch>
            <a:fillRect/>
          </a:stretch>
        </p:blipFill>
        <p:spPr>
          <a:xfrm>
            <a:off x="5961888" y="-22675"/>
            <a:ext cx="4726750" cy="76059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1006</Words>
  <Application>Microsoft Office PowerPoint</Application>
  <PresentationFormat>Custom</PresentationFormat>
  <Paragraphs>246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Cogent Multimedia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Fleet Magazine, advertiser pack</dc:title>
  <dc:subject>PptxGenJS Presentation</dc:subject>
  <dc:creator>Cogent Multimedia Ltd</dc:creator>
  <cp:lastModifiedBy>James Burke</cp:lastModifiedBy>
  <cp:revision>7</cp:revision>
  <dcterms:created xsi:type="dcterms:W3CDTF">2026-10-19T15:33:24Z</dcterms:created>
  <dcterms:modified xsi:type="dcterms:W3CDTF">2026-10-20T11:26:54Z</dcterms:modified>
</cp:coreProperties>
</file>